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5143500" cy="9144000"/>
  <p:embeddedFontLst>
    <p:embeddedFont>
      <p:font typeface="Carli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7" name="Anastasiia Lapshin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arlito-bold.fntdata"/><Relationship Id="rId12" Type="http://schemas.openxmlformats.org/officeDocument/2006/relationships/slide" Target="slides/slide7.xml"/><Relationship Id="rId34" Type="http://schemas.openxmlformats.org/officeDocument/2006/relationships/font" Target="fonts/Carlito-regular.fntdata"/><Relationship Id="rId15" Type="http://schemas.openxmlformats.org/officeDocument/2006/relationships/slide" Target="slides/slide10.xml"/><Relationship Id="rId37" Type="http://schemas.openxmlformats.org/officeDocument/2006/relationships/font" Target="fonts/Carlito-boldItalic.fntdata"/><Relationship Id="rId14" Type="http://schemas.openxmlformats.org/officeDocument/2006/relationships/slide" Target="slides/slide9.xml"/><Relationship Id="rId36" Type="http://schemas.openxmlformats.org/officeDocument/2006/relationships/font" Target="fonts/Carli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17T10:46:49.220">
    <p:pos x="2420" y="1338"/>
    <p:text>Представим модель одобрения кредита и конкретный признак — наличие официальной работы. Допустим, коэффициент для этого признака равен 0.7. Тогда e^bj ~ 2</p:text>
  </p:cm>
  <p:cm authorId="0" idx="2" dt="2026-10-17T10:46:49.220">
    <p:pos x="2420" y="1338"/>
    <p:text>Кандидат с офф работой</p:text>
  </p:cm>
  <p:cm authorId="0" idx="3" dt="2026-10-17T11:20:30.175">
    <p:pos x="2378" y="1572"/>
    <p:text>Без офф работы. Шансы на одобрение кредита 1:4, т.е вероятность равна 0.20</p:text>
  </p:cm>
  <p:cm authorId="0" idx="4" dt="2026-10-17T10:45:43.725">
    <p:pos x="2186" y="2000"/>
    <p:text>Наличие работы дает разность логитов, равную betaj</p:text>
  </p:cm>
  <p:cm authorId="0" idx="5" dt="2026-10-17T11:20:29.269">
    <p:pos x="2402" y="2499"/>
    <p:text>Шансы второго кандидата умножаются на 2, шанс одобрения кредита для него 1:2, а вероятность - ?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10-16T20:30:25.054">
    <p:pos x="288" y="495"/>
    <p:text>Когда строим PDP по площади, мы подставляем выбранную площадь всем квартирам, сохраняя остальные признаки. Поэтому можем получить сочетание «20 м² и 5 комнат», которого в данных практически нет. Прогноз модели для такого сочетания может быть ненадёжным.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10-17T11:26:43.103">
    <p:pos x="3818" y="1740"/>
    <p:text>Количество способов расставить признаки внутри группы S до прихода i равно |S|!, а затем считаем количество способов расставить оставшиеся признаки после прихода i. И делим на общее количество всех перестановок n!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89b8e0f4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89b8e0f4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89b8e0f4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8a20883bc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8a20883bc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8a20883bc_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ae12b55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f8ae12b558_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f8ae12b558_1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8ae12b558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f8ae12b558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f8ae12b558_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8ae12b558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f8ae12b558_5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8ae12b558_5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8ae12b558_5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f8ae12b558_5_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8ae12b558_5_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8ae3d2c9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f8ae3d2c9b_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f8ae3d2c9b_1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8ae3d2c9b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f8ae3d2c9b_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f8ae3d2c9b_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2.xml"/><Relationship Id="rId4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comments" Target="../comments/comment3.xml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20040" y="1666195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Продвинутое машинное обучение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22960" y="2201685"/>
            <a:ext cx="7498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Лекция </a:t>
            </a:r>
            <a:r>
              <a:rPr lang="en-US" sz="1600">
                <a:solidFill>
                  <a:srgbClr val="111111"/>
                </a:solidFill>
              </a:rPr>
              <a:t>7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600">
                <a:solidFill>
                  <a:srgbClr val="111111"/>
                </a:solidFill>
              </a:rPr>
              <a:t>Интерпретируемость: основные методы оценки важности признаков для ML моделей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20040" y="2988007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Автор курса: Лапшина Анастасия (University of Maryland, College Park, ВШЭ)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350" y="45786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НИУ ВШЭ 2026-2027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457200" y="543243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5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План лекции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7200" y="1533765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" name="Google Shape;27;p4"/>
          <p:cNvSpPr txBox="1"/>
          <p:nvPr/>
        </p:nvSpPr>
        <p:spPr>
          <a:xfrm>
            <a:off x="457200" y="1533765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822960" y="1506333"/>
            <a:ext cx="374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Зачем нужна интерпретация.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Три оси, по которым делят методы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688075" y="1533765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0" name="Google Shape;30;p4"/>
          <p:cNvSpPr txBox="1"/>
          <p:nvPr/>
        </p:nvSpPr>
        <p:spPr>
          <a:xfrm>
            <a:off x="4688075" y="1533765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5053835" y="1506333"/>
            <a:ext cx="374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Интерпретируемость по определению: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линейные модели, наивный Байес, деревья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175" y="2918318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" name="Google Shape;33;p4"/>
          <p:cNvSpPr txBox="1"/>
          <p:nvPr/>
        </p:nvSpPr>
        <p:spPr>
          <a:xfrm>
            <a:off x="457175" y="2918318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22935" y="2890886"/>
            <a:ext cx="374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Графические методы: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ICE, PDP, ALE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688050" y="2918318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6" name="Google Shape;36;p4"/>
          <p:cNvSpPr txBox="1"/>
          <p:nvPr/>
        </p:nvSpPr>
        <p:spPr>
          <a:xfrm>
            <a:off x="4688050" y="2918318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5053810" y="2890886"/>
            <a:ext cx="374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Числовые оценки важности: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Permutation Importance, SHAP, LIME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16B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Часть 1. Зачем нужна интерпретация</a:t>
            </a:r>
            <a:endParaRPr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/>
        </p:nvSpPr>
        <p:spPr>
          <a:xfrm>
            <a:off x="457200" y="51881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lang="en-US" sz="2500">
                <a:solidFill>
                  <a:srgbClr val="1F2429"/>
                </a:solidFill>
              </a:rPr>
              <a:t>Интерпретируемость vs. Black box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57275" y="1426550"/>
            <a:ext cx="3931800" cy="2797800"/>
          </a:xfrm>
          <a:prstGeom prst="roundRect">
            <a:avLst>
              <a:gd fmla="val 2692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 txBox="1"/>
          <p:nvPr/>
        </p:nvSpPr>
        <p:spPr>
          <a:xfrm>
            <a:off x="731583" y="1677074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Интерпретируем</a:t>
            </a:r>
            <a:r>
              <a:rPr b="1" i="0" lang="en-US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ая</a:t>
            </a:r>
            <a:r>
              <a:rPr b="1" i="0" lang="en-US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по определению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731583" y="2152809"/>
            <a:ext cx="3383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Структура и параметры имеют математический смысл: коэффициент, правило, условная вероятность.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Объяснение получается в комплекте с моделью, отдельные методы интерпретации могут оказаться избыточны.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754950" y="1426550"/>
            <a:ext cx="3931800" cy="2797800"/>
          </a:xfrm>
          <a:prstGeom prst="roundRect">
            <a:avLst>
              <a:gd fmla="val 2692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 txBox="1"/>
          <p:nvPr/>
        </p:nvSpPr>
        <p:spPr>
          <a:xfrm>
            <a:off x="5029263" y="1640424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Чёрный ящик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5029263" y="2152809"/>
            <a:ext cx="3383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Нейросети, большие ансамбли, иногда бустинги. Структура слишком сложна, чтобы читать </a:t>
            </a:r>
            <a:r>
              <a:rPr lang="en-US" sz="1200">
                <a:solidFill>
                  <a:schemeClr val="dk1"/>
                </a:solidFill>
              </a:rPr>
              <a:t>ее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напрямую </a:t>
            </a:r>
            <a:r>
              <a:rPr lang="en-US" sz="1200">
                <a:solidFill>
                  <a:schemeClr val="dk1"/>
                </a:solidFill>
              </a:rPr>
              <a:t>и понимать значение отдельных компонентов модели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Объяснение строится отдельно, уже после обучения</a:t>
            </a:r>
            <a:r>
              <a:rPr lang="en-US" sz="1200">
                <a:solidFill>
                  <a:schemeClr val="dk1"/>
                </a:solidFill>
              </a:rPr>
              <a:t>. Э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 post-hoc методы интерпретации.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/>
        </p:nvSpPr>
        <p:spPr>
          <a:xfrm>
            <a:off x="457200" y="44551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Что даёт интерпретация в предметной области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57200" y="1115568"/>
            <a:ext cx="8229600" cy="786384"/>
          </a:xfrm>
          <a:prstGeom prst="roundRect">
            <a:avLst>
              <a:gd fmla="val 8140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 txBox="1"/>
          <p:nvPr/>
        </p:nvSpPr>
        <p:spPr>
          <a:xfrm>
            <a:off x="731520" y="122529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Медицина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2651760" y="1225296"/>
            <a:ext cx="576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Какие показатели здоровья привели к тому, что пациент отнесён в группу риска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врач может верифицировать и интерпретировать вывод модели.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57200" y="2011680"/>
            <a:ext cx="8229600" cy="786384"/>
          </a:xfrm>
          <a:prstGeom prst="roundRect">
            <a:avLst>
              <a:gd fmla="val 8140" name="adj"/>
            </a:avLst>
          </a:prstGeom>
          <a:solidFill>
            <a:srgbClr val="F6F9FC"/>
          </a:solidFill>
          <a:ln cap="flat" cmpd="sng" w="9525">
            <a:solidFill>
              <a:srgbClr val="F6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 txBox="1"/>
          <p:nvPr/>
        </p:nvSpPr>
        <p:spPr>
          <a:xfrm>
            <a:off x="731524" y="2121400"/>
            <a:ext cx="1579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Кредитный скоринг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2651760" y="2121408"/>
            <a:ext cx="576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Какие показатели привели к отказу клиенту</a:t>
            </a:r>
            <a:r>
              <a:rPr lang="en-US" sz="1050">
                <a:solidFill>
                  <a:schemeClr val="dk1"/>
                </a:solidFill>
              </a:rPr>
              <a:t> в одобрении кредитной карты/повышении кредитного лимита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57200" y="2907792"/>
            <a:ext cx="8229600" cy="786384"/>
          </a:xfrm>
          <a:prstGeom prst="roundRect">
            <a:avLst>
              <a:gd fmla="val 8140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731520" y="301752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Найм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2651760" y="3017520"/>
            <a:ext cx="576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Какие показатели повысили вероятность найма при автоотборе по резюме </a:t>
            </a:r>
            <a:r>
              <a:rPr lang="en-US" sz="1050">
                <a:solidFill>
                  <a:schemeClr val="dk1"/>
                </a:solidFill>
              </a:rPr>
              <a:t>–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появляется возможность проверить эти показатели на предвзятость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57200" y="3803904"/>
            <a:ext cx="8229600" cy="786384"/>
          </a:xfrm>
          <a:prstGeom prst="roundRect">
            <a:avLst>
              <a:gd fmla="val 8140" name="adj"/>
            </a:avLst>
          </a:prstGeom>
          <a:solidFill>
            <a:srgbClr val="F6F9FC"/>
          </a:solidFill>
          <a:ln cap="flat" cmpd="sng" w="9525">
            <a:solidFill>
              <a:srgbClr val="F6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682670" y="3913582"/>
            <a:ext cx="1828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Предиктивное обслуживание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2651760" y="3913632"/>
            <a:ext cx="576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Какие показатели привели к тому, что оборудование помечено как ломающееся. Зная это, сотрудник быстрее локализует и исправит проблему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/>
        </p:nvSpPr>
        <p:spPr>
          <a:xfrm>
            <a:off x="457200" y="427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lang="en-US" sz="2500">
                <a:solidFill>
                  <a:srgbClr val="1F2429"/>
                </a:solidFill>
              </a:rPr>
              <a:t>Классификация методов интерпретации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457238" y="1194977"/>
            <a:ext cx="2615100" cy="3420300"/>
          </a:xfrm>
          <a:prstGeom prst="roundRect">
            <a:avLst>
              <a:gd fmla="val 2456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 txBox="1"/>
          <p:nvPr/>
        </p:nvSpPr>
        <p:spPr>
          <a:xfrm>
            <a:off x="694981" y="1414424"/>
            <a:ext cx="2157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Ante-hoc / Post-hoc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694981" y="1981352"/>
            <a:ext cx="2157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Ante-hoc </a:t>
            </a:r>
            <a:r>
              <a:rPr lang="en-US" sz="1250">
                <a:solidFill>
                  <a:schemeClr val="dk1"/>
                </a:solidFill>
              </a:rPr>
              <a:t>–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интерпретация заложена в структуру модели изначально.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Post-hoc </a:t>
            </a:r>
            <a:r>
              <a:rPr lang="en-US" sz="1250">
                <a:solidFill>
                  <a:schemeClr val="dk1"/>
                </a:solidFill>
              </a:rPr>
              <a:t>–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метод применяется уже после обучения, поверх готовой модели.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3264438" y="1194977"/>
            <a:ext cx="2615100" cy="3420300"/>
          </a:xfrm>
          <a:prstGeom prst="roundRect">
            <a:avLst>
              <a:gd fmla="val 2456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 txBox="1"/>
          <p:nvPr/>
        </p:nvSpPr>
        <p:spPr>
          <a:xfrm>
            <a:off x="3502200" y="1414425"/>
            <a:ext cx="223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Локальная / Глобальная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3502189" y="1981352"/>
            <a:ext cx="2157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Локальная </a:t>
            </a:r>
            <a:r>
              <a:rPr lang="en-US" sz="1250">
                <a:solidFill>
                  <a:schemeClr val="dk1"/>
                </a:solidFill>
              </a:rPr>
              <a:t>–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объяснение конкретного предсказания: почему модель так решила для этого объекта.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Глобальная </a:t>
            </a:r>
            <a:r>
              <a:rPr lang="en-US" sz="1250">
                <a:solidFill>
                  <a:schemeClr val="dk1"/>
                </a:solidFill>
              </a:rPr>
              <a:t>–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анализ модели в целом: какие признаки важны и как влияют в среднем.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071663" y="1194977"/>
            <a:ext cx="2615100" cy="3420300"/>
          </a:xfrm>
          <a:prstGeom prst="roundRect">
            <a:avLst>
              <a:gd fmla="val 2456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6291123" y="1347224"/>
            <a:ext cx="2157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Model-specific / Model-agnostic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6309398" y="1981352"/>
            <a:ext cx="2157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Model-specific </a:t>
            </a:r>
            <a:r>
              <a:rPr lang="en-US" sz="1250">
                <a:solidFill>
                  <a:schemeClr val="dk1"/>
                </a:solidFill>
              </a:rPr>
              <a:t>–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метод предназначен для конкретного класса моделей.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Model-agnostic </a:t>
            </a:r>
            <a:r>
              <a:rPr lang="en-US" sz="1250">
                <a:solidFill>
                  <a:schemeClr val="dk1"/>
                </a:solidFill>
              </a:rPr>
              <a:t>–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универсальный метод, применим к любому чёрному ящику.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16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Часть 2. Интерпретация по определению</a:t>
            </a:r>
            <a:endParaRPr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/>
        </p:nvSpPr>
        <p:spPr>
          <a:xfrm>
            <a:off x="457200" y="478643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Линейные модели и логистическая регрессия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457225" y="1280493"/>
            <a:ext cx="4892100" cy="1051500"/>
          </a:xfrm>
          <a:prstGeom prst="roundRect">
            <a:avLst>
              <a:gd fmla="val 6087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"/>
          <p:cNvSpPr txBox="1"/>
          <p:nvPr/>
        </p:nvSpPr>
        <p:spPr>
          <a:xfrm>
            <a:off x="694969" y="1408509"/>
            <a:ext cx="448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Линейная регрессия и обобщённые линейные модели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lin.png" id="103" name="Google Shape;1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0359" y="1737693"/>
            <a:ext cx="2545774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 txBox="1"/>
          <p:nvPr/>
        </p:nvSpPr>
        <p:spPr>
          <a:xfrm>
            <a:off x="5577865" y="1445085"/>
            <a:ext cx="3108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Каждый коэффициент β</a:t>
            </a:r>
            <a:r>
              <a:rPr b="0" baseline="-2500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показывает изменение отклика y при увеличении признака x</a:t>
            </a:r>
            <a:r>
              <a:rPr b="0" baseline="-2500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 единицу при прочих равных</a:t>
            </a:r>
            <a:r>
              <a:rPr lang="en-US" sz="1050">
                <a:solidFill>
                  <a:schemeClr val="dk1"/>
                </a:solidFill>
              </a:rPr>
              <a:t>*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457225" y="2496645"/>
            <a:ext cx="4892100" cy="1170300"/>
          </a:xfrm>
          <a:prstGeom prst="roundRect">
            <a:avLst>
              <a:gd fmla="val 5469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694969" y="2615517"/>
            <a:ext cx="448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Логистическая регрессия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logit.png" id="107" name="Google Shape;1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1536" y="2940138"/>
            <a:ext cx="3103418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 txBox="1"/>
          <p:nvPr/>
        </p:nvSpPr>
        <p:spPr>
          <a:xfrm>
            <a:off x="5577865" y="2652093"/>
            <a:ext cx="310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описывает логарифм шансов, и β</a:t>
            </a:r>
            <a:r>
              <a:rPr b="0" baseline="-2500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читается как вклад признака в изменение шансов. Это делает прозрачной и бинарную классификацию.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147745" y="4765725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C464F"/>
                </a:solidFill>
              </a:rPr>
              <a:t>* </a:t>
            </a:r>
            <a:r>
              <a:rPr b="0" i="0" lang="en-US" sz="10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При коррелированных признаках изменить один, не тронув остальные, невозможно</a:t>
            </a:r>
            <a:r>
              <a:rPr lang="en-US" sz="1000">
                <a:solidFill>
                  <a:srgbClr val="3C464F"/>
                </a:solidFill>
              </a:rPr>
              <a:t>. Б</a:t>
            </a:r>
            <a:r>
              <a:rPr b="0" i="0" lang="en-US" sz="10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уквальное чтение </a:t>
            </a:r>
            <a:r>
              <a:rPr lang="en-US" sz="1000">
                <a:solidFill>
                  <a:srgbClr val="3C464F"/>
                </a:solidFill>
              </a:rPr>
              <a:t>и интерпретация </a:t>
            </a:r>
            <a:r>
              <a:rPr b="0" i="0" lang="en-US" sz="10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коэффициента переста</a:t>
            </a:r>
            <a:r>
              <a:rPr lang="en-US" sz="1000">
                <a:solidFill>
                  <a:srgbClr val="3C464F"/>
                </a:solidFill>
              </a:rPr>
              <a:t>ю</a:t>
            </a:r>
            <a:r>
              <a:rPr b="0" i="0" lang="en-US" sz="10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т работать.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/>
        </p:nvSpPr>
        <p:spPr>
          <a:xfrm>
            <a:off x="420550" y="395680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200"/>
              <a:buFont typeface="Arial"/>
              <a:buNone/>
            </a:pPr>
            <a:r>
              <a:rPr b="0" i="0" lang="en-US" sz="24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Логистическая регрессия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420550" y="898429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= P(y = 1 | x)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вероятность класса 1 для объекта x;   шансы (odds) = p / (1 − 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20550" y="1212125"/>
            <a:ext cx="8229600" cy="638400"/>
          </a:xfrm>
          <a:prstGeom prst="roundRect">
            <a:avLst>
              <a:gd fmla="val 8974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676582" y="1437925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676582" y="1437925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987478" y="1465481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Модель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lr_model.png" id="121" name="Google Shape;12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0311" y="1355629"/>
            <a:ext cx="4158957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/>
          <p:nvPr/>
        </p:nvSpPr>
        <p:spPr>
          <a:xfrm>
            <a:off x="420550" y="2009663"/>
            <a:ext cx="8229600" cy="868200"/>
          </a:xfrm>
          <a:prstGeom prst="roundRect">
            <a:avLst>
              <a:gd fmla="val 5833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676582" y="2373132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 txBox="1"/>
          <p:nvPr/>
        </p:nvSpPr>
        <p:spPr>
          <a:xfrm>
            <a:off x="676582" y="2373132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1048553" y="2268016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Два объекта,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xj отличается на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lr_obj2.png" id="126" name="Google Shape;1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3095" y="2124952"/>
            <a:ext cx="3853390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ulas/lr_obj1.png" id="127" name="Google Shape;12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6536" y="2496077"/>
            <a:ext cx="3986509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420550" y="3029875"/>
            <a:ext cx="8229600" cy="691200"/>
          </a:xfrm>
          <a:prstGeom prst="roundRect">
            <a:avLst>
              <a:gd fmla="val 8974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676582" y="3276766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"/>
          <p:cNvSpPr txBox="1"/>
          <p:nvPr/>
        </p:nvSpPr>
        <p:spPr>
          <a:xfrm>
            <a:off x="676582" y="3276766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 txBox="1"/>
          <p:nvPr/>
        </p:nvSpPr>
        <p:spPr>
          <a:xfrm>
            <a:off x="987475" y="3263802"/>
            <a:ext cx="1828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Вычитаем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lr_sub.png" id="132" name="Google Shape;13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0887" y="3176182"/>
            <a:ext cx="4597807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/>
          <p:nvPr/>
        </p:nvSpPr>
        <p:spPr>
          <a:xfrm>
            <a:off x="420550" y="3910713"/>
            <a:ext cx="8229600" cy="548700"/>
          </a:xfrm>
          <a:prstGeom prst="roundRect">
            <a:avLst>
              <a:gd fmla="val 8974" name="adj"/>
            </a:avLst>
          </a:prstGeom>
          <a:solidFill>
            <a:srgbClr val="EEF3FA"/>
          </a:solidFill>
          <a:ln cap="flat" cmpd="sng" w="9525">
            <a:solidFill>
              <a:srgbClr val="EE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676582" y="4067913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 txBox="1"/>
          <p:nvPr/>
        </p:nvSpPr>
        <p:spPr>
          <a:xfrm>
            <a:off x="676582" y="4067913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987475" y="4078864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Потенцируем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lr_exp.png" id="137" name="Google Shape;13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3888" y="3967329"/>
            <a:ext cx="3911803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1"/>
          <p:cNvSpPr txBox="1"/>
          <p:nvPr/>
        </p:nvSpPr>
        <p:spPr>
          <a:xfrm>
            <a:off x="207700" y="4686300"/>
            <a:ext cx="884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</a:rPr>
              <a:t>Признак прибавляет βj к логиту и умножает шансы в exp(βj) раз. Насколько при этом вырастет вероятность, зависит от исходного уровня p.</a:t>
            </a:r>
            <a:endParaRPr b="1" i="0" sz="105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/>
        </p:nvSpPr>
        <p:spPr>
          <a:xfrm>
            <a:off x="457200" y="503781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5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Наивный байесовский классификатор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457200" y="1182200"/>
            <a:ext cx="8229600" cy="806400"/>
          </a:xfrm>
          <a:prstGeom prst="roundRect">
            <a:avLst>
              <a:gd fmla="val 5600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ulas/nb.png" id="146" name="Google Shape;1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9086" y="1234364"/>
            <a:ext cx="3267689" cy="7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 txBox="1"/>
          <p:nvPr/>
        </p:nvSpPr>
        <p:spPr>
          <a:xfrm>
            <a:off x="428500" y="2927605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316B"/>
                </a:solidFill>
              </a:rPr>
              <a:t>Что означает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428500" y="3344450"/>
            <a:ext cx="3566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Каждое предсказание определяется априорной вероятностью класса P(y) и вкладом каждого признака x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через </a:t>
            </a:r>
            <a:r>
              <a:rPr lang="en-US" sz="1200">
                <a:solidFill>
                  <a:schemeClr val="dk1"/>
                </a:solidFill>
              </a:rPr>
              <a:t>правдоподобия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P(x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y) (likelihoods). «Наивное» допущение независимости позволяет показать, какой именно фактор усиливает или ослабляет вероятность класса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4817620" y="2927610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316B"/>
                </a:solidFill>
              </a:rPr>
              <a:t>Нюансы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4817620" y="3344456"/>
            <a:ext cx="3566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Допущение независимости признаков почти всегда неверно на реальных данных. Модель остаётся полностью читаемой, но </a:t>
            </a:r>
            <a:r>
              <a:rPr lang="en-US" sz="1200">
                <a:solidFill>
                  <a:schemeClr val="dk1"/>
                </a:solidFill>
              </a:rPr>
              <a:t>ее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вероятности плохо откалиброваны</a:t>
            </a:r>
            <a:r>
              <a:rPr lang="en-US" sz="1200">
                <a:solidFill>
                  <a:schemeClr val="dk1"/>
                </a:solidFill>
              </a:rPr>
              <a:t>.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Поэтому наивный Байес хорош как объяснимый baseline и плох как источник вероятностей для принятия решений.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2" title="naive_bayes_spam_formul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1475" y="2178049"/>
            <a:ext cx="6013885" cy="4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/>
        </p:nvSpPr>
        <p:spPr>
          <a:xfrm>
            <a:off x="457200" y="45721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5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Решающие деревья: уровни интерпретации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57200" y="1115568"/>
            <a:ext cx="3931920" cy="1691640"/>
          </a:xfrm>
          <a:prstGeom prst="roundRect">
            <a:avLst>
              <a:gd fmla="val 3784" name="adj"/>
            </a:avLst>
          </a:prstGeom>
          <a:solidFill>
            <a:srgbClr val="EE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731520" y="1316736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Локально </a:t>
            </a:r>
            <a:r>
              <a:rPr b="1" lang="en-US" sz="1300">
                <a:solidFill>
                  <a:srgbClr val="00316B"/>
                </a:solidFill>
              </a:rPr>
              <a:t>–</a:t>
            </a:r>
            <a:r>
              <a:rPr b="1" i="0" lang="en-US" sz="13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маршрут по дереву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731520" y="1627632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Дерево </a:t>
            </a:r>
            <a:r>
              <a:rPr lang="en-US" sz="1150">
                <a:solidFill>
                  <a:schemeClr val="dk1"/>
                </a:solidFill>
              </a:rPr>
              <a:t>–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иерархия правил вида «если–то», где на каждом шаге делается пороговое разбиение признака. Предсказание объясняется конкретным маршрутом от корня к листу и набором выполненных условий.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4754880" y="1115568"/>
            <a:ext cx="3931920" cy="1691640"/>
          </a:xfrm>
          <a:prstGeom prst="roundRect">
            <a:avLst>
              <a:gd fmla="val 3784" name="adj"/>
            </a:avLst>
          </a:prstGeom>
          <a:solidFill>
            <a:srgbClr val="EE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5029200" y="1316736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Глобально </a:t>
            </a:r>
            <a:r>
              <a:rPr b="1" lang="en-US" sz="1300">
                <a:solidFill>
                  <a:srgbClr val="00316B"/>
                </a:solidFill>
              </a:rPr>
              <a:t>–</a:t>
            </a:r>
            <a:r>
              <a:rPr b="1" i="0" lang="en-US" sz="13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важности признаков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5029200" y="1627632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Каждый узел строится как решение задачи уменьшения меры </a:t>
            </a:r>
            <a:r>
              <a:rPr lang="en-US" sz="1150">
                <a:solidFill>
                  <a:schemeClr val="dk1"/>
                </a:solidFill>
              </a:rPr>
              <a:t>загрязненности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Насколько сильно узел её снизил </a:t>
            </a:r>
            <a:r>
              <a:rPr lang="en-US" sz="1150">
                <a:solidFill>
                  <a:schemeClr val="dk1"/>
                </a:solidFill>
              </a:rPr>
              <a:t>–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настолько признак в этом узле и важен. Суммируем по всем узлам, где признак использовался.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457200" y="333518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Важность признака в узле N</a:t>
            </a:r>
            <a:r>
              <a:rPr b="1" baseline="-25000" i="0" lang="en-US" sz="13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1" lang="en-US" sz="1350">
                <a:solidFill>
                  <a:srgbClr val="00316B"/>
                </a:solidFill>
              </a:rPr>
              <a:t>:</a:t>
            </a:r>
            <a:r>
              <a:rPr b="1" baseline="-25000" i="0" lang="en-US" sz="13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457200" y="3646563"/>
            <a:ext cx="5204700" cy="621000"/>
          </a:xfrm>
          <a:prstGeom prst="roundRect">
            <a:avLst>
              <a:gd fmla="val 9722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ulas/treeimp.png" id="166" name="Google Shape;1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48" y="3802173"/>
            <a:ext cx="4883073" cy="3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13"/>
          <p:cNvCxnSpPr/>
          <p:nvPr/>
        </p:nvCxnSpPr>
        <p:spPr>
          <a:xfrm>
            <a:off x="3220825" y="4077700"/>
            <a:ext cx="342000" cy="464400"/>
          </a:xfrm>
          <a:prstGeom prst="straightConnector1">
            <a:avLst/>
          </a:prstGeom>
          <a:noFill/>
          <a:ln cap="flat" cmpd="sng" w="9525">
            <a:solidFill>
              <a:srgbClr val="0031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3"/>
          <p:cNvCxnSpPr/>
          <p:nvPr/>
        </p:nvCxnSpPr>
        <p:spPr>
          <a:xfrm flipH="1">
            <a:off x="4558600" y="4089925"/>
            <a:ext cx="403200" cy="488700"/>
          </a:xfrm>
          <a:prstGeom prst="straightConnector1">
            <a:avLst/>
          </a:prstGeom>
          <a:noFill/>
          <a:ln cap="flat" cmpd="sng" w="9525">
            <a:solidFill>
              <a:srgbClr val="0031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13"/>
          <p:cNvSpPr txBox="1"/>
          <p:nvPr/>
        </p:nvSpPr>
        <p:spPr>
          <a:xfrm>
            <a:off x="3072000" y="4617825"/>
            <a:ext cx="3000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</a:rPr>
              <a:t>Индекс Джини или энтропия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/>
        </p:nvSpPr>
        <p:spPr>
          <a:xfrm>
            <a:off x="457200" y="433293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Общая важность признака в дереве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457200" y="92054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lang="en-US" sz="1050">
                <a:solidFill>
                  <a:schemeClr val="dk1"/>
                </a:solidFill>
              </a:rPr>
              <a:t>– это с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умма по всем узлам, где признак использовался, нормированная на суммарную важность всех признаков.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457113" y="1561518"/>
            <a:ext cx="3383400" cy="1554600"/>
          </a:xfrm>
          <a:prstGeom prst="roundRect">
            <a:avLst>
              <a:gd fmla="val 4118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316B"/>
              </a:highlight>
            </a:endParaRPr>
          </a:p>
        </p:txBody>
      </p:sp>
      <p:pic>
        <p:nvPicPr>
          <p:cNvPr descr="formulas/treefi.png" id="178" name="Google Shape;1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700" y="1773824"/>
            <a:ext cx="2112776" cy="11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 txBox="1"/>
          <p:nvPr/>
        </p:nvSpPr>
        <p:spPr>
          <a:xfrm>
            <a:off x="4160495" y="1561532"/>
            <a:ext cx="452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316B"/>
                </a:solidFill>
              </a:rPr>
              <a:t>Что дает Feature Importance: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4160500" y="1866175"/>
            <a:ext cx="379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ч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исловую шкалу, по которой признаки можно упорядочить и сравнить между собой. Это самая </a:t>
            </a:r>
            <a:r>
              <a:rPr lang="en-US" sz="1100">
                <a:solidFill>
                  <a:schemeClr val="dk1"/>
                </a:solidFill>
              </a:rPr>
              <a:t>дешевая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глобальная интерпретация из существующих</a:t>
            </a:r>
            <a:r>
              <a:rPr lang="en-US" sz="1100">
                <a:solidFill>
                  <a:schemeClr val="dk1"/>
                </a:solidFill>
              </a:rPr>
              <a:t>, посчитанная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внутри обученной модели и не требу</a:t>
            </a:r>
            <a:r>
              <a:rPr lang="en-US" sz="1100">
                <a:solidFill>
                  <a:schemeClr val="dk1"/>
                </a:solidFill>
              </a:rPr>
              <a:t>ющая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ни одного дополнительного вызова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426645" y="3945354"/>
            <a:ext cx="768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AutoNum type="arabicParenR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Смещение к признакам с большим числом уникальных значений.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AutoNum type="arabicParenR"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Считается на обучающей выборке (могли переобучиться).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AutoNum type="arabicParenR"/>
            </a:pPr>
            <a:r>
              <a:rPr lang="en-US" sz="1150">
                <a:solidFill>
                  <a:schemeClr val="dk1"/>
                </a:solidFill>
              </a:rPr>
              <a:t>Есть коррелированные признаки.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426645" y="3560010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316B"/>
                </a:solidFill>
              </a:rPr>
              <a:t>Нюансы: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/>
        </p:nvSpPr>
        <p:spPr>
          <a:xfrm>
            <a:off x="457200" y="4753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lang="en-US" sz="2500">
                <a:solidFill>
                  <a:srgbClr val="1F2429"/>
                </a:solidFill>
              </a:rPr>
              <a:t>Границы</a:t>
            </a:r>
            <a:r>
              <a:rPr b="0" i="0" lang="en-US" sz="25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 ante-hoc интерпретаци</a:t>
            </a:r>
            <a:r>
              <a:rPr lang="en-US" sz="2500">
                <a:solidFill>
                  <a:srgbClr val="1F2429"/>
                </a:solidFill>
              </a:rPr>
              <a:t>и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457200" y="1319650"/>
            <a:ext cx="2403300" cy="877800"/>
          </a:xfrm>
          <a:prstGeom prst="roundRect">
            <a:avLst>
              <a:gd fmla="val 7292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682670" y="1462986"/>
            <a:ext cx="2011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2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Мультиколлинеарность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457200" y="2507925"/>
            <a:ext cx="2403300" cy="877800"/>
          </a:xfrm>
          <a:prstGeom prst="roundRect">
            <a:avLst>
              <a:gd fmla="val 7292" name="adj"/>
            </a:avLst>
          </a:prstGeom>
          <a:solidFill>
            <a:srgbClr val="F6F9FC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780395" y="2654163"/>
            <a:ext cx="2011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Масштаб признаков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441113" y="3696200"/>
            <a:ext cx="2403300" cy="877800"/>
          </a:xfrm>
          <a:prstGeom prst="roundRect">
            <a:avLst>
              <a:gd fmla="val 7292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924233" y="3845390"/>
            <a:ext cx="2011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Размер модели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5"/>
          <p:cNvCxnSpPr/>
          <p:nvPr/>
        </p:nvCxnSpPr>
        <p:spPr>
          <a:xfrm>
            <a:off x="3738675" y="2946825"/>
            <a:ext cx="830700" cy="0"/>
          </a:xfrm>
          <a:prstGeom prst="straightConnector1">
            <a:avLst/>
          </a:prstGeom>
          <a:noFill/>
          <a:ln cap="flat" cmpd="sng" w="19050">
            <a:solidFill>
              <a:srgbClr val="0031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15"/>
          <p:cNvSpPr txBox="1"/>
          <p:nvPr/>
        </p:nvSpPr>
        <p:spPr>
          <a:xfrm>
            <a:off x="5447550" y="2684851"/>
            <a:ext cx="20118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lang="en-US" sz="2150">
                <a:solidFill>
                  <a:srgbClr val="00316B"/>
                </a:solidFill>
              </a:rPr>
              <a:t>Post-hoc методы 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16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Часть 3. Графические методы: ICE, PDP, ALE</a:t>
            </a:r>
            <a:endParaRPr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/>
        </p:nvSpPr>
        <p:spPr>
          <a:xfrm>
            <a:off x="457200" y="4297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5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Графические (plot-based) методы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457200" y="1270997"/>
            <a:ext cx="2615100" cy="3020400"/>
          </a:xfrm>
          <a:prstGeom prst="roundRect">
            <a:avLst>
              <a:gd fmla="val 2692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94944" y="1453891"/>
            <a:ext cx="2157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ICE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694944" y="1819651"/>
            <a:ext cx="2157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Individual Conditional Expectation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676669" y="2240275"/>
            <a:ext cx="2157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Линия на каждый объект: как меняется его прогноз при изменении одного признака.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664919" y="4028126"/>
            <a:ext cx="2157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локальный</a:t>
            </a:r>
            <a:endParaRPr b="0" i="0" sz="90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3264375" y="1271026"/>
            <a:ext cx="2615100" cy="3020400"/>
          </a:xfrm>
          <a:prstGeom prst="roundRect">
            <a:avLst>
              <a:gd fmla="val 2692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3502114" y="1453903"/>
            <a:ext cx="2157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PDP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3502114" y="1819663"/>
            <a:ext cx="2157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Partial Dependence Plot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3502114" y="2240287"/>
            <a:ext cx="2157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Усреднённый ICE: как в среднем меняется прогноз модели при изменении признака.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3416839" y="4028113"/>
            <a:ext cx="2157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глобальный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6071550" y="1271026"/>
            <a:ext cx="2615100" cy="3020400"/>
          </a:xfrm>
          <a:prstGeom prst="roundRect">
            <a:avLst>
              <a:gd fmla="val 2692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309285" y="1453903"/>
            <a:ext cx="2157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ALE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6309285" y="1819663"/>
            <a:ext cx="2157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Accumulated Local Effects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6309285" y="2240287"/>
            <a:ext cx="2157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Накопленный локальный эффект внутри узких интервалов значений признака.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6300160" y="4028113"/>
            <a:ext cx="2157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глобальный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/>
        </p:nvSpPr>
        <p:spPr>
          <a:xfrm>
            <a:off x="457200" y="4023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ICE: </a:t>
            </a:r>
            <a:r>
              <a:rPr lang="en-US" sz="2300">
                <a:solidFill>
                  <a:srgbClr val="1F2429"/>
                </a:solidFill>
              </a:rPr>
              <a:t>индивидуальное условное ожидание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457200" y="1066617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</a:rPr>
              <a:t>n объектов, p признаков, сетка из m значений признака j (фиксируем его)</a:t>
            </a:r>
            <a:endParaRPr b="1" i="0" sz="105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457200" y="1469467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Вход: m копий выборки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457200" y="1816939"/>
            <a:ext cx="3017400" cy="457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621792" y="1816939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X′₁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1170432" y="1816939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столбец j = j₁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2606040" y="1816939"/>
            <a:ext cx="71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n × 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457200" y="2420443"/>
            <a:ext cx="3017400" cy="457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621792" y="2420443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X′₂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1170432" y="2420443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столбец j = j₂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2606040" y="2420443"/>
            <a:ext cx="71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n × 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457200" y="3097099"/>
            <a:ext cx="3017400" cy="457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21792" y="3097099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X′ₘ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1170432" y="3097099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столбец j = jₘ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2606040" y="3097099"/>
            <a:ext cx="71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n × 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457200" y="2895931"/>
            <a:ext cx="3017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⋮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457200" y="3700603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</a:t>
            </a:r>
            <a:r>
              <a:rPr lang="en-US" sz="950">
                <a:solidFill>
                  <a:schemeClr val="dk1"/>
                </a:solidFill>
              </a:rPr>
              <a:t>тэк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всех копий </a:t>
            </a:r>
            <a:r>
              <a:rPr lang="en-US" sz="950">
                <a:solidFill>
                  <a:schemeClr val="dk1"/>
                </a:solidFill>
              </a:rPr>
              <a:t>–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 · m) × p </a:t>
            </a:r>
            <a:r>
              <a:rPr lang="en-US" sz="950">
                <a:solidFill>
                  <a:schemeClr val="dk1"/>
                </a:solidFill>
              </a:rPr>
              <a:t>- размер входной таблицы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3584448" y="2402168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4114800" y="14694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Выход: матрица прогнозов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6858000" y="14694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n × 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4956048" y="1762088"/>
            <a:ext cx="57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j₁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5532120" y="1762088"/>
            <a:ext cx="57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j₂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6108192" y="1762088"/>
            <a:ext cx="57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j₃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6684264" y="1762088"/>
            <a:ext cx="57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⋯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7260336" y="1762088"/>
            <a:ext cx="57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jₘ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4114800" y="2018120"/>
            <a:ext cx="777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4956048" y="2018120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4956048" y="20181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f₁₁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532120" y="2018120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5532120" y="20181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f₁₂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6108192" y="2018120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6108192" y="20181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f₁₃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6684264" y="2018120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6684264" y="20181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⋯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7260336" y="2018120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7260336" y="20181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f₁ₘ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4114800" y="2365592"/>
            <a:ext cx="777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4956048" y="2365592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4956048" y="2365592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f₂₁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5532120" y="2365592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5532120" y="2365592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f₂₂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6108192" y="2365592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6108192" y="2365592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f₂₃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6684264" y="2365592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6684264" y="2365592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⋯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7260336" y="2365592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7260336" y="2365592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f₂ₘ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4114800" y="2895944"/>
            <a:ext cx="777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4956048" y="2895944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4956048" y="2895944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fₙ₁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5532120" y="2895944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5532120" y="2895944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fₙ₂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6108192" y="2895944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6108192" y="2895944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fₙ₃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6684264" y="2895944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6684264" y="2895944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⋯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7260336" y="2895944"/>
            <a:ext cx="576000" cy="3291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7260336" y="2895944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fₙₘ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4114800" y="2713064"/>
            <a:ext cx="77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⋮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4956048" y="2713064"/>
            <a:ext cx="57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⋮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5532120" y="2713064"/>
            <a:ext cx="57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⋮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6108192" y="2713064"/>
            <a:ext cx="57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⋮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7260336" y="2713064"/>
            <a:ext cx="57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B848F"/>
                </a:solidFill>
                <a:latin typeface="Arial"/>
                <a:ea typeface="Arial"/>
                <a:cs typeface="Arial"/>
                <a:sym typeface="Arial"/>
              </a:rPr>
              <a:t>⋮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7909560" y="2018120"/>
            <a:ext cx="86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3261D"/>
                </a:solidFill>
                <a:latin typeface="Arial"/>
                <a:ea typeface="Arial"/>
                <a:cs typeface="Arial"/>
                <a:sym typeface="Arial"/>
              </a:rPr>
              <a:t>ICE-линия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4114800" y="3389720"/>
            <a:ext cx="777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среднее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4956048" y="3389720"/>
            <a:ext cx="576000" cy="3291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4956048" y="33897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PD₁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5532120" y="3389720"/>
            <a:ext cx="576000" cy="3291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5532120" y="33897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PD₂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6108192" y="3389720"/>
            <a:ext cx="576000" cy="3291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6108192" y="33897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PD₃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6684264" y="3389720"/>
            <a:ext cx="576000" cy="3291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6684264" y="33897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⋯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7260336" y="3389720"/>
            <a:ext cx="576000" cy="3291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7260336" y="3389720"/>
            <a:ext cx="5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PDₘ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7909560" y="3389720"/>
            <a:ext cx="73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PDP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4114800" y="3883496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Строка </a:t>
            </a:r>
            <a:r>
              <a:rPr lang="en-US" sz="950">
                <a:solidFill>
                  <a:srgbClr val="3C464F"/>
                </a:solidFill>
              </a:rPr>
              <a:t>–</a:t>
            </a:r>
            <a:r>
              <a:rPr b="0" i="0" lang="en-US" sz="9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 ICE-линия одного объекта по m точкам. Среднее по столбцам </a:t>
            </a:r>
            <a:r>
              <a:rPr lang="en-US" sz="950">
                <a:solidFill>
                  <a:srgbClr val="3C464F"/>
                </a:solidFill>
              </a:rPr>
              <a:t>–</a:t>
            </a:r>
            <a:r>
              <a:rPr b="0" i="0" lang="en-US" sz="9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 кривая PDP.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457200" y="45242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Каждая ячейка </a:t>
            </a:r>
            <a:r>
              <a:rPr lang="en-US" sz="1050">
                <a:solidFill>
                  <a:srgbClr val="3C464F"/>
                </a:solidFill>
              </a:rPr>
              <a:t>–</a:t>
            </a:r>
            <a:r>
              <a:rPr b="0" i="0" lang="en-US" sz="10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 один вызов модели: всего n · m прогнозов. Для n = 100 000 и сетки m = 50 это 5 миллионов, поэтому ICE считают на подвыборке.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457200" y="81073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Задача метода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оценить, как меняется прогноз модели с изменением одного признака для каждого объекта выборки.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/>
        </p:nvSpPr>
        <p:spPr>
          <a:xfrm>
            <a:off x="457200" y="366192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200"/>
              <a:buFont typeface="Arial"/>
              <a:buNone/>
            </a:pPr>
            <a:r>
              <a:rPr b="0" i="0" lang="en-US" sz="24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ICE: прокат велосипедов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457200" y="768528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предсказывает число прокатов. Изучаем признак «температура», сетка из m = 3 точек: 10, 20, 30.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457200" y="1116000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Xtest </a:t>
            </a:r>
            <a:r>
              <a:rPr b="1" lang="en-US" sz="1000">
                <a:solidFill>
                  <a:srgbClr val="00316B"/>
                </a:solidFill>
              </a:rPr>
              <a:t>–</a:t>
            </a:r>
            <a:r>
              <a:rPr b="1" i="0" lang="en-US" sz="10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исходная выборка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457200" y="1335456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n = 3 объекта, p = 3 признака</a:t>
            </a:r>
            <a:endParaRPr b="0" i="0" sz="85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457200" y="1591488"/>
            <a:ext cx="676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1133856" y="1591488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темп.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1682496" y="1591488"/>
            <a:ext cx="585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влажн.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2267712" y="1591488"/>
            <a:ext cx="466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вых.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457200" y="1829232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133856" y="1829232"/>
            <a:ext cx="5487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1133856" y="182923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1682496" y="1829232"/>
            <a:ext cx="5853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 txBox="1"/>
          <p:nvPr/>
        </p:nvSpPr>
        <p:spPr>
          <a:xfrm>
            <a:off x="1682496" y="1829232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2267712" y="1829232"/>
            <a:ext cx="4662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2267712" y="1829232"/>
            <a:ext cx="46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нет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457200" y="2066976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1133856" y="2066976"/>
            <a:ext cx="5487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1133856" y="2066976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1682496" y="2066976"/>
            <a:ext cx="5853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"/>
          <p:cNvSpPr txBox="1"/>
          <p:nvPr/>
        </p:nvSpPr>
        <p:spPr>
          <a:xfrm>
            <a:off x="1682496" y="2066976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2267712" y="2066976"/>
            <a:ext cx="4662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2267712" y="2066976"/>
            <a:ext cx="46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457200" y="2304720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1133856" y="2304720"/>
            <a:ext cx="5487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1133856" y="2304720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1682496" y="2304720"/>
            <a:ext cx="5853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1682496" y="2304720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2267712" y="2304720"/>
            <a:ext cx="4662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2267712" y="2304720"/>
            <a:ext cx="46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нет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2889504" y="1902384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3474720" y="1116000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X′₁ </a:t>
            </a:r>
            <a:r>
              <a:rPr b="1" lang="en-US" sz="1000">
                <a:solidFill>
                  <a:srgbClr val="00316B"/>
                </a:solidFill>
              </a:rPr>
              <a:t>–</a:t>
            </a:r>
            <a:r>
              <a:rPr b="1" i="0" lang="en-US" sz="10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копия выборки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3474720" y="1335456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3261D"/>
                </a:solidFill>
                <a:latin typeface="Arial"/>
                <a:ea typeface="Arial"/>
                <a:cs typeface="Arial"/>
                <a:sym typeface="Arial"/>
              </a:rPr>
              <a:t>температура у всех = 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3474720" y="1591488"/>
            <a:ext cx="676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4151376" y="1591488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темп.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4700016" y="1591488"/>
            <a:ext cx="585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влажн.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5285232" y="1591488"/>
            <a:ext cx="466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вых.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3474720" y="1829232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4151376" y="1829232"/>
            <a:ext cx="548700" cy="237600"/>
          </a:xfrm>
          <a:prstGeom prst="rect">
            <a:avLst/>
          </a:prstGeom>
          <a:solidFill>
            <a:srgbClr val="FBF0EE"/>
          </a:solidFill>
          <a:ln cap="flat" cmpd="sng" w="9525">
            <a:solidFill>
              <a:srgbClr val="E8C9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4151376" y="182923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3261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4700016" y="1829232"/>
            <a:ext cx="5853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9"/>
          <p:cNvSpPr txBox="1"/>
          <p:nvPr/>
        </p:nvSpPr>
        <p:spPr>
          <a:xfrm>
            <a:off x="4700016" y="1829232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5285232" y="1829232"/>
            <a:ext cx="4662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9"/>
          <p:cNvSpPr txBox="1"/>
          <p:nvPr/>
        </p:nvSpPr>
        <p:spPr>
          <a:xfrm>
            <a:off x="5285232" y="1829232"/>
            <a:ext cx="46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нет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3474720" y="2066976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4151376" y="2066976"/>
            <a:ext cx="548700" cy="237600"/>
          </a:xfrm>
          <a:prstGeom prst="rect">
            <a:avLst/>
          </a:prstGeom>
          <a:solidFill>
            <a:srgbClr val="FBF0EE"/>
          </a:solidFill>
          <a:ln cap="flat" cmpd="sng" w="9525">
            <a:solidFill>
              <a:srgbClr val="E8C9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4151376" y="2066976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3261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4700016" y="2066976"/>
            <a:ext cx="5853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4700016" y="2066976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5285232" y="2066976"/>
            <a:ext cx="4662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5285232" y="2066976"/>
            <a:ext cx="46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3474720" y="2304720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4151376" y="2304720"/>
            <a:ext cx="548700" cy="237600"/>
          </a:xfrm>
          <a:prstGeom prst="rect">
            <a:avLst/>
          </a:prstGeom>
          <a:solidFill>
            <a:srgbClr val="FBF0EE"/>
          </a:solidFill>
          <a:ln cap="flat" cmpd="sng" w="9525">
            <a:solidFill>
              <a:srgbClr val="E8C9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4151376" y="2304720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3261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4700016" y="2304720"/>
            <a:ext cx="5853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4700016" y="2304720"/>
            <a:ext cx="58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5285232" y="2304720"/>
            <a:ext cx="4662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 txBox="1"/>
          <p:nvPr/>
        </p:nvSpPr>
        <p:spPr>
          <a:xfrm>
            <a:off x="5285232" y="2304720"/>
            <a:ext cx="46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нет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6214950" y="1225925"/>
            <a:ext cx="2514600" cy="1298400"/>
          </a:xfrm>
          <a:prstGeom prst="roundRect">
            <a:avLst>
              <a:gd fmla="val 4930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"/>
          <p:cNvSpPr txBox="1"/>
          <p:nvPr/>
        </p:nvSpPr>
        <p:spPr>
          <a:xfrm>
            <a:off x="6311800" y="1372225"/>
            <a:ext cx="2309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Копий столько же, сколько точек сетки: три </a:t>
            </a:r>
            <a:r>
              <a:rPr lang="en-US" sz="950">
                <a:solidFill>
                  <a:schemeClr val="dk1"/>
                </a:solidFill>
              </a:rPr>
              <a:t>–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 температурой 10, 20 и 30.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Подменяется только столбец температуры. Влажность и «выходной» у каждого объекта остаются своими.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457200" y="3035953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Прогноз модели → матрица n ×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 txBox="1"/>
          <p:nvPr/>
        </p:nvSpPr>
        <p:spPr>
          <a:xfrm>
            <a:off x="457200" y="3036536"/>
            <a:ext cx="80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1261872" y="3328561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t = 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1920240" y="3328561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t =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2578608" y="3328561"/>
            <a:ext cx="65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t = 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439050" y="3548155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1261872" y="3566305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1261872" y="3566305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1920240" y="3566305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1920240" y="3566305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2578608" y="3566305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2578608" y="3566305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130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439050" y="3785899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1261872" y="3804049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1261872" y="3804049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1920240" y="3804049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1920240" y="3804049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2578608" y="3804049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2578608" y="3804049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170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 txBox="1"/>
          <p:nvPr/>
        </p:nvSpPr>
        <p:spPr>
          <a:xfrm>
            <a:off x="439050" y="4023643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объект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1261872" y="4041793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1261872" y="4041793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1920240" y="4041793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/>
          <p:cNvSpPr txBox="1"/>
          <p:nvPr/>
        </p:nvSpPr>
        <p:spPr>
          <a:xfrm>
            <a:off x="1920240" y="4041793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2578608" y="4041793"/>
            <a:ext cx="658500" cy="237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/>
          <p:cNvSpPr txBox="1"/>
          <p:nvPr/>
        </p:nvSpPr>
        <p:spPr>
          <a:xfrm>
            <a:off x="2578608" y="4041793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150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439050" y="4352827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среднее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1261872" y="4370977"/>
            <a:ext cx="658500" cy="2376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/>
          <p:cNvSpPr txBox="1"/>
          <p:nvPr/>
        </p:nvSpPr>
        <p:spPr>
          <a:xfrm>
            <a:off x="1261872" y="4370977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46,7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1920240" y="4370977"/>
            <a:ext cx="658500" cy="2376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1920240" y="4370977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103,3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2578608" y="4370977"/>
            <a:ext cx="658500" cy="2376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9"/>
          <p:cNvSpPr txBox="1"/>
          <p:nvPr/>
        </p:nvSpPr>
        <p:spPr>
          <a:xfrm>
            <a:off x="2578608" y="4370977"/>
            <a:ext cx="65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150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3310128" y="3566305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3261D"/>
                </a:solidFill>
                <a:latin typeface="Arial"/>
                <a:ea typeface="Arial"/>
                <a:cs typeface="Arial"/>
                <a:sym typeface="Arial"/>
              </a:rPr>
              <a:t>← ICE-линия объекта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3310128" y="4370977"/>
            <a:ext cx="150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← точки кривой PDP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5014215" y="3072253"/>
            <a:ext cx="3794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Как читать матрицу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5014215" y="3364861"/>
            <a:ext cx="3794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Строка «объект 1» </a:t>
            </a:r>
            <a:r>
              <a:rPr lang="en-US" sz="950">
                <a:solidFill>
                  <a:schemeClr val="dk1"/>
                </a:solidFill>
              </a:rPr>
              <a:t>–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>
                <a:solidFill>
                  <a:schemeClr val="dk1"/>
                </a:solidFill>
              </a:rPr>
              <a:t>это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кривая: при 10 → 20 → 30 градусах прогноз идёт 40 → 90 → 130. Это одна ICE-линия, всего их n штук (для каждого объект</a:t>
            </a:r>
            <a:r>
              <a:rPr lang="en-US" sz="950">
                <a:solidFill>
                  <a:schemeClr val="dk1"/>
                </a:solidFill>
              </a:rPr>
              <a:t>а)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Нижняя строка </a:t>
            </a:r>
            <a:r>
              <a:rPr lang="en-US" sz="950">
                <a:solidFill>
                  <a:schemeClr val="dk1"/>
                </a:solidFill>
              </a:rPr>
              <a:t>–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среднее по столбцам. Три её значения </a:t>
            </a:r>
            <a:r>
              <a:rPr lang="en-US" sz="950">
                <a:solidFill>
                  <a:schemeClr val="dk1"/>
                </a:solidFill>
              </a:rPr>
              <a:t>– это 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кривая PDP (partial dependence plot).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"/>
          <p:cNvSpPr txBox="1"/>
          <p:nvPr/>
        </p:nvSpPr>
        <p:spPr>
          <a:xfrm>
            <a:off x="457200" y="4210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ICE и PDP на одном графике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457200" y="84169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Голубые линии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ICE по объектам, пунктир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их среднее</a:t>
            </a:r>
            <a:r>
              <a:rPr lang="en-US" sz="1050">
                <a:solidFill>
                  <a:schemeClr val="dk1"/>
                </a:solidFill>
              </a:rPr>
              <a:t> (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g_ice_pdp.png" id="416" name="Google Shape;4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000" y="1369175"/>
            <a:ext cx="4515476" cy="27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0"/>
          <p:cNvSpPr/>
          <p:nvPr/>
        </p:nvSpPr>
        <p:spPr>
          <a:xfrm>
            <a:off x="5645250" y="1914850"/>
            <a:ext cx="3065400" cy="1814700"/>
          </a:xfrm>
          <a:prstGeom prst="roundRect">
            <a:avLst>
              <a:gd fmla="val 4516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5852110" y="2091605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1000"/>
              <a:buFont typeface="Arial"/>
              <a:buNone/>
            </a:pPr>
            <a:r>
              <a:rPr b="1" lang="en-US" sz="1100">
                <a:solidFill>
                  <a:srgbClr val="00316B"/>
                </a:solidFill>
              </a:rPr>
              <a:t>Пологий</a:t>
            </a:r>
            <a:r>
              <a:rPr b="1" i="0" lang="en-US" sz="11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PDP означает одно из двух:</a:t>
            </a:r>
            <a:endParaRPr b="0" i="0" sz="110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5852100" y="2410750"/>
            <a:ext cx="272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1) 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признак не важен  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2) 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эффекты разнонаправленны и взаимно погасились при усреднении.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Различить эти два случая можно только по ICE.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 txBox="1"/>
          <p:nvPr/>
        </p:nvSpPr>
        <p:spPr>
          <a:xfrm>
            <a:off x="457200" y="366093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ALE: накопленные локальные эффекты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457200" y="786717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 предложен как альтернатива PDP для случая мультиколлинеарных признаков.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457200" y="1258374"/>
            <a:ext cx="8229600" cy="663000"/>
          </a:xfrm>
          <a:prstGeom prst="roundRect">
            <a:avLst>
              <a:gd fmla="val 8750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"/>
          <p:cNvSpPr txBox="1"/>
          <p:nvPr/>
        </p:nvSpPr>
        <p:spPr>
          <a:xfrm>
            <a:off x="676795" y="1402545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1000"/>
              <a:buFont typeface="Arial"/>
              <a:buNone/>
            </a:pPr>
            <a:r>
              <a:rPr b="1" i="0" lang="en-US" sz="13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Проблема PDP:</a:t>
            </a:r>
            <a:endParaRPr b="0" i="0" sz="130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1920240" y="1372682"/>
            <a:ext cx="6492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подставляя значение признака всем объектам подряд, он спрашивает модель о комбинациях, которых в данных не бывает. ALE считает эффект только там, где данные действительно есть.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198950" y="2265294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1"/>
          <p:cNvSpPr txBox="1"/>
          <p:nvPr/>
        </p:nvSpPr>
        <p:spPr>
          <a:xfrm>
            <a:off x="198950" y="2265294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564700" y="2296950"/>
            <a:ext cx="415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Выбираем интересующий признак – например, площадь квартиры, чтобы оценить её влияние на прогноз цены.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198950" y="2896096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1"/>
          <p:cNvSpPr txBox="1"/>
          <p:nvPr/>
        </p:nvSpPr>
        <p:spPr>
          <a:xfrm>
            <a:off x="198950" y="2896096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564700" y="2850475"/>
            <a:ext cx="4193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Делим диапазон площади на интервалы: например, 40–45, 45–50 м² и т. д.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198950" y="3683323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198950" y="3683323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564700" y="3436388"/>
            <a:ext cx="3971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В каждом интервале берём только попавшие в него квартиры. Например, для интервала 40–45 м² каждой квартире подставляем сначала 40, затем 45 м², сохраняя остальные признаки. Считаем разницу прогнозов «цена при 45 м² − цена при 40 м²» и усредняем её по этим квартирам.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198950" y="4434696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1"/>
          <p:cNvSpPr txBox="1"/>
          <p:nvPr/>
        </p:nvSpPr>
        <p:spPr>
          <a:xfrm>
            <a:off x="198950" y="4434696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564700" y="4434699"/>
            <a:ext cx="3520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Суммир</a:t>
            </a:r>
            <a:r>
              <a:rPr lang="en-US" sz="1000">
                <a:solidFill>
                  <a:schemeClr val="dk1"/>
                </a:solidFill>
              </a:rPr>
              <a:t>уем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эффекты по интервалам и центрир</a:t>
            </a:r>
            <a:r>
              <a:rPr lang="en-US" sz="1000">
                <a:solidFill>
                  <a:schemeClr val="dk1"/>
                </a:solidFill>
              </a:rPr>
              <a:t>уем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21" title="ALE_apartment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1450" y="2094100"/>
            <a:ext cx="3895348" cy="224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/>
          <p:nvPr/>
        </p:nvSpPr>
        <p:spPr>
          <a:xfrm>
            <a:off x="3969425" y="4511225"/>
            <a:ext cx="4827900" cy="502800"/>
          </a:xfrm>
          <a:prstGeom prst="roundRect">
            <a:avLst>
              <a:gd fmla="val 8750" name="adj"/>
            </a:avLst>
          </a:prstGeom>
          <a:solidFill>
            <a:srgbClr val="FFEFEF"/>
          </a:solidFill>
          <a:ln cap="flat" cmpd="sng" w="9525">
            <a:solidFill>
              <a:srgbClr val="E8C9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4082525" y="4485575"/>
            <a:ext cx="460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При центрировании из всей кривой вычитается средний накопленный эффект по квартирам выборки, поэтому отрицательные значения ALE показывают эффект ниже среднего уровня, а форма кривой сохраняется.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445" name="Google Shape;445;p21"/>
          <p:cNvCxnSpPr/>
          <p:nvPr/>
        </p:nvCxnSpPr>
        <p:spPr>
          <a:xfrm flipH="1" rot="10800000">
            <a:off x="5289375" y="3639375"/>
            <a:ext cx="681600" cy="911100"/>
          </a:xfrm>
          <a:prstGeom prst="straightConnector1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"/>
          <p:cNvSpPr txBox="1"/>
          <p:nvPr/>
        </p:nvSpPr>
        <p:spPr>
          <a:xfrm>
            <a:off x="457200" y="4149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ICE, PDP, ALE</a:t>
            </a:r>
            <a:r>
              <a:rPr lang="en-US" sz="2300">
                <a:solidFill>
                  <a:srgbClr val="1F2429"/>
                </a:solidFill>
              </a:rPr>
              <a:t> –</a:t>
            </a: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 что </a:t>
            </a:r>
            <a:r>
              <a:rPr lang="en-US" sz="2300">
                <a:solidFill>
                  <a:srgbClr val="1F2429"/>
                </a:solidFill>
              </a:rPr>
              <a:t>использовать?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457200" y="1133782"/>
            <a:ext cx="8229600" cy="365700"/>
          </a:xfrm>
          <a:prstGeom prst="rect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585216" y="1133782"/>
            <a:ext cx="74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Метод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1545336" y="1133782"/>
            <a:ext cx="96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Уровень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 txBox="1"/>
          <p:nvPr/>
        </p:nvSpPr>
        <p:spPr>
          <a:xfrm>
            <a:off x="2734056" y="1133782"/>
            <a:ext cx="288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Что показывает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>
            <a:off x="5843016" y="1133782"/>
            <a:ext cx="275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Слабое место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457200" y="1499542"/>
            <a:ext cx="8229600" cy="603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E4EB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2"/>
          <p:cNvSpPr txBox="1"/>
          <p:nvPr/>
        </p:nvSpPr>
        <p:spPr>
          <a:xfrm>
            <a:off x="585216" y="1499542"/>
            <a:ext cx="7407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>
            <a:off x="1545336" y="1499542"/>
            <a:ext cx="969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локальный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 txBox="1"/>
          <p:nvPr/>
        </p:nvSpPr>
        <p:spPr>
          <a:xfrm>
            <a:off x="2734056" y="1499542"/>
            <a:ext cx="2889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По линии на каждый объект: как меняется именно его прогноз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>
            <a:off x="5843016" y="1499542"/>
            <a:ext cx="275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На нескольких сотнях объектов график перестаёт читаться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457200" y="2103046"/>
            <a:ext cx="8229600" cy="60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B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2"/>
          <p:cNvSpPr txBox="1"/>
          <p:nvPr/>
        </p:nvSpPr>
        <p:spPr>
          <a:xfrm>
            <a:off x="585216" y="2103046"/>
            <a:ext cx="7407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PDP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 txBox="1"/>
          <p:nvPr/>
        </p:nvSpPr>
        <p:spPr>
          <a:xfrm>
            <a:off x="1545336" y="2103046"/>
            <a:ext cx="969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глобальный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>
            <a:off x="2734056" y="2103046"/>
            <a:ext cx="2889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Среднюю кривую </a:t>
            </a:r>
            <a:r>
              <a:rPr lang="en-US" sz="900">
                <a:solidFill>
                  <a:srgbClr val="3C464F"/>
                </a:solidFill>
              </a:rPr>
              <a:t>–</a:t>
            </a: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 усреднённый ICE по всей выборке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 txBox="1"/>
          <p:nvPr/>
        </p:nvSpPr>
        <p:spPr>
          <a:xfrm>
            <a:off x="5843016" y="2103046"/>
            <a:ext cx="275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Среднее прячет разнонаправленные эффекты; экстраполяция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457200" y="2706550"/>
            <a:ext cx="8229600" cy="6036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E4EB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585216" y="2706550"/>
            <a:ext cx="7407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1545336" y="2706550"/>
            <a:ext cx="969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глобальный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2734056" y="2706550"/>
            <a:ext cx="2889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Накопленный локальный эффект по интервалам значений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5843016" y="2706550"/>
            <a:ext cx="275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Нужен выбор числа интервалов; сложнее объяснить заказчику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457200" y="3688520"/>
            <a:ext cx="8229600" cy="1097400"/>
          </a:xfrm>
          <a:prstGeom prst="roundRect">
            <a:avLst>
              <a:gd fmla="val 5833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2"/>
          <p:cNvSpPr txBox="1"/>
          <p:nvPr/>
        </p:nvSpPr>
        <p:spPr>
          <a:xfrm>
            <a:off x="731528" y="3871400"/>
            <a:ext cx="350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2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Практический порядок использов</a:t>
            </a:r>
            <a:r>
              <a:rPr b="1" lang="en-US" sz="1250">
                <a:solidFill>
                  <a:srgbClr val="00316B"/>
                </a:solidFill>
              </a:rPr>
              <a:t>ания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731520" y="4164008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Сначала PDP</a:t>
            </a:r>
            <a:r>
              <a:rPr lang="en-US" sz="1100">
                <a:solidFill>
                  <a:schemeClr val="dk1"/>
                </a:solidFill>
              </a:rPr>
              <a:t>,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чтобы увидеть общую форму зависимости. Затем ICE поверх него</a:t>
            </a:r>
            <a:r>
              <a:rPr lang="en-US" sz="1100">
                <a:solidFill>
                  <a:schemeClr val="dk1"/>
                </a:solidFill>
              </a:rPr>
              <a:t>,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чтобы проверить, не прячет ли среднее разнонаправленные эффекты. И ALE вместо PDP там, где признаки заметно </a:t>
            </a:r>
            <a:r>
              <a:rPr b="1" i="0" lang="en-US" sz="1100" u="none" cap="none" strike="noStrike">
                <a:solidFill>
                  <a:schemeClr val="dk1"/>
                </a:solidFill>
              </a:rPr>
              <a:t>скоррелированы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16B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3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Часть 4. Оценки важности в числах: Permutation, SHAP, LIME</a:t>
            </a:r>
            <a:endParaRPr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4"/>
          <p:cNvSpPr txBox="1"/>
          <p:nvPr/>
        </p:nvSpPr>
        <p:spPr>
          <a:xfrm>
            <a:off x="457200" y="4027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Permutation Importance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 txBox="1"/>
          <p:nvPr/>
        </p:nvSpPr>
        <p:spPr>
          <a:xfrm>
            <a:off x="457200" y="82339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 признак значим, случайная перестановка его значений сильно ухудшит качество модели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457200" y="1244016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1" lang="en-US" sz="1100">
                <a:solidFill>
                  <a:srgbClr val="00316B"/>
                </a:solidFill>
              </a:rPr>
              <a:t>Постановка.</a:t>
            </a:r>
            <a:r>
              <a:rPr lang="en-US" sz="1000">
                <a:solidFill>
                  <a:schemeClr val="dk1"/>
                </a:solidFill>
              </a:rPr>
              <a:t> Пусть f — обученная модель, x₁, …, xₚ — признаки, а L — средняя ошибка модели на наборе данных. Выберем признак xⱼ и вычислим исходную ошибку на тестовом наборе.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457200" y="1966581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457200" y="1966581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 txBox="1"/>
          <p:nvPr/>
        </p:nvSpPr>
        <p:spPr>
          <a:xfrm>
            <a:off x="822951" y="1957550"/>
            <a:ext cx="372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Случайным образом переставим значения признака xⱼ между объектами тестового набора. Остальные признаки и метки y сохраняем.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457200" y="2631096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4"/>
          <p:cNvSpPr txBox="1"/>
          <p:nvPr/>
        </p:nvSpPr>
        <p:spPr>
          <a:xfrm>
            <a:off x="457200" y="2631096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 txBox="1"/>
          <p:nvPr/>
        </p:nvSpPr>
        <p:spPr>
          <a:xfrm>
            <a:off x="822960" y="2631108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Получим прогнозы модели f на изменённых данных. Модель не переобучаем.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457200" y="3127846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4"/>
          <p:cNvSpPr txBox="1"/>
          <p:nvPr/>
        </p:nvSpPr>
        <p:spPr>
          <a:xfrm>
            <a:off x="457200" y="3127846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4"/>
          <p:cNvSpPr txBox="1"/>
          <p:nvPr/>
        </p:nvSpPr>
        <p:spPr>
          <a:xfrm>
            <a:off x="822960" y="3149433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Вычислим среднюю ошибку модели после перестановки.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457200" y="3603334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4"/>
          <p:cNvSpPr txBox="1"/>
          <p:nvPr/>
        </p:nvSpPr>
        <p:spPr>
          <a:xfrm>
            <a:off x="457200" y="3603334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 txBox="1"/>
          <p:nvPr/>
        </p:nvSpPr>
        <p:spPr>
          <a:xfrm>
            <a:off x="822960" y="3624921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Оценим важность признака как разность или отношение ошибок после и до перестановки.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4800600" y="1890443"/>
            <a:ext cx="3886200" cy="777300"/>
          </a:xfrm>
          <a:prstGeom prst="roundRect">
            <a:avLst>
              <a:gd fmla="val 8235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4"/>
          <p:cNvSpPr txBox="1"/>
          <p:nvPr/>
        </p:nvSpPr>
        <p:spPr>
          <a:xfrm>
            <a:off x="4800600" y="2859707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Итоговая важность признака </a:t>
            </a:r>
            <a:r>
              <a:rPr b="1" lang="en-US" sz="1050">
                <a:solidFill>
                  <a:srgbClr val="00316B"/>
                </a:solidFill>
              </a:rPr>
              <a:t>–</a:t>
            </a:r>
            <a:r>
              <a:rPr b="1" i="0" lang="en-US" sz="10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по K перестановкам: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4800600" y="3170603"/>
            <a:ext cx="3886200" cy="868800"/>
          </a:xfrm>
          <a:prstGeom prst="roundRect">
            <a:avLst>
              <a:gd fmla="val 7368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4"/>
          <p:cNvSpPr txBox="1"/>
          <p:nvPr/>
        </p:nvSpPr>
        <p:spPr>
          <a:xfrm>
            <a:off x="457200" y="454224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rgbClr val="00316B"/>
                </a:solidFill>
              </a:rPr>
              <a:t>Алгоритм повторяется для всех признаков, после чего они сортируются </a:t>
            </a:r>
            <a:r>
              <a:rPr b="1" lang="en-US" sz="1100">
                <a:solidFill>
                  <a:srgbClr val="00316B"/>
                </a:solidFill>
              </a:rPr>
              <a:t>в порядке убывания </a:t>
            </a:r>
            <a:r>
              <a:rPr b="1" i="0" lang="en-US" sz="1100" u="none" cap="none" strike="noStrike">
                <a:solidFill>
                  <a:srgbClr val="00316B"/>
                </a:solidFill>
              </a:rPr>
              <a:t>важности. </a:t>
            </a:r>
            <a:endParaRPr b="1" i="0" sz="110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5" name="Google Shape;505;p24" title="permutation_importance_differe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751" y="2096251"/>
            <a:ext cx="3123885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4" title="permutation_importance_aver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977" y="3247535"/>
            <a:ext cx="3597450" cy="7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5"/>
          <p:cNvSpPr txBox="1"/>
          <p:nvPr/>
        </p:nvSpPr>
        <p:spPr>
          <a:xfrm>
            <a:off x="457200" y="460143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lang="en-US" sz="2400">
                <a:solidFill>
                  <a:srgbClr val="1F2429"/>
                </a:solidFill>
              </a:rPr>
              <a:t>Permutation Importance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g_perm.png" id="513" name="Google Shape;5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575" y="1047963"/>
            <a:ext cx="3841000" cy="29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5"/>
          <p:cNvSpPr txBox="1"/>
          <p:nvPr/>
        </p:nvSpPr>
        <p:spPr>
          <a:xfrm>
            <a:off x="5257800" y="1793655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Разброс = устойчивость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5257800" y="2104550"/>
            <a:ext cx="3088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Узкий ящик </a:t>
            </a:r>
            <a:r>
              <a:rPr lang="en-US" sz="1100">
                <a:solidFill>
                  <a:schemeClr val="dk1"/>
                </a:solidFill>
              </a:rPr>
              <a:t>с усами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означает, что эффект перестановки воспроизводится от прогона к прогону. Широкий </a:t>
            </a:r>
            <a:r>
              <a:rPr lang="en-US" sz="1100">
                <a:solidFill>
                  <a:schemeClr val="dk1"/>
                </a:solidFill>
              </a:rPr>
              <a:t>–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что признак иногда важен, иногда нет, и решение о его удалении принимать рано.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457200" y="4401419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00316B"/>
                </a:solidFill>
              </a:rPr>
              <a:t>Считать перестановочную важность нужно на отложенной выборке: на train она измеряет, насколько модель запомнила признак, а не насколько он ей полезен.</a:t>
            </a:r>
            <a:endParaRPr b="1" i="0" sz="105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6"/>
          <p:cNvSpPr txBox="1"/>
          <p:nvPr/>
        </p:nvSpPr>
        <p:spPr>
          <a:xfrm>
            <a:off x="457200" y="314055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SHAP: значения Шепли (вектор Шепли)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 txBox="1"/>
          <p:nvPr/>
        </p:nvSpPr>
        <p:spPr>
          <a:xfrm>
            <a:off x="457200" y="757504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Игроки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признаки, коалиция S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подмножество признаков, выигрыш v(S)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прогноз модели на этом подмножестве.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457200" y="1164850"/>
            <a:ext cx="8229600" cy="822300"/>
          </a:xfrm>
          <a:prstGeom prst="roundRect">
            <a:avLst>
              <a:gd fmla="val 6087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ulas/shap.png" id="525" name="Google Shape;52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9291" y="1301607"/>
            <a:ext cx="4225417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6"/>
          <p:cNvSpPr txBox="1"/>
          <p:nvPr/>
        </p:nvSpPr>
        <p:spPr>
          <a:xfrm>
            <a:off x="457200" y="2363796"/>
            <a:ext cx="402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Вклад признака i считается </a:t>
            </a:r>
            <a:r>
              <a:rPr b="1" lang="en-US" sz="1150">
                <a:solidFill>
                  <a:srgbClr val="00316B"/>
                </a:solidFill>
              </a:rPr>
              <a:t>по следующему алгоритму: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457200" y="2834173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6"/>
          <p:cNvSpPr txBox="1"/>
          <p:nvPr/>
        </p:nvSpPr>
        <p:spPr>
          <a:xfrm>
            <a:off x="457200" y="2834173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841248" y="2870804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Считаем прогноз v(S) без игрока 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6"/>
          <p:cNvSpPr/>
          <p:nvPr/>
        </p:nvSpPr>
        <p:spPr>
          <a:xfrm>
            <a:off x="457200" y="3236509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6"/>
          <p:cNvSpPr txBox="1"/>
          <p:nvPr/>
        </p:nvSpPr>
        <p:spPr>
          <a:xfrm>
            <a:off x="457200" y="3236509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 txBox="1"/>
          <p:nvPr/>
        </p:nvSpPr>
        <p:spPr>
          <a:xfrm>
            <a:off x="841248" y="3245615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Добавляем i и считаем v(S ∪ {i}).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/>
          <p:nvPr/>
        </p:nvSpPr>
        <p:spPr>
          <a:xfrm>
            <a:off x="457200" y="3638845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6"/>
          <p:cNvSpPr txBox="1"/>
          <p:nvPr/>
        </p:nvSpPr>
        <p:spPr>
          <a:xfrm>
            <a:off x="457200" y="3638845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6"/>
          <p:cNvSpPr txBox="1"/>
          <p:nvPr/>
        </p:nvSpPr>
        <p:spPr>
          <a:xfrm>
            <a:off x="841248" y="3660276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Берём разность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предельный вклад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457200" y="4041181"/>
            <a:ext cx="219600" cy="219600"/>
          </a:xfrm>
          <a:prstGeom prst="ellipse">
            <a:avLst/>
          </a:prstGeom>
          <a:solidFill>
            <a:srgbClr val="00316B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6"/>
          <p:cNvSpPr txBox="1"/>
          <p:nvPr/>
        </p:nvSpPr>
        <p:spPr>
          <a:xfrm>
            <a:off x="457200" y="4041181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 txBox="1"/>
          <p:nvPr/>
        </p:nvSpPr>
        <p:spPr>
          <a:xfrm>
            <a:off x="841248" y="4056562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Усредняем по всем коалициям с весами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6"/>
          <p:cNvSpPr/>
          <p:nvPr/>
        </p:nvSpPr>
        <p:spPr>
          <a:xfrm>
            <a:off x="4797000" y="2398025"/>
            <a:ext cx="3889800" cy="1250100"/>
          </a:xfrm>
          <a:prstGeom prst="roundRect">
            <a:avLst>
              <a:gd fmla="val 4930" name="adj"/>
            </a:avLst>
          </a:prstGeom>
          <a:solidFill>
            <a:srgbClr val="F6F9FC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6"/>
          <p:cNvSpPr txBox="1"/>
          <p:nvPr/>
        </p:nvSpPr>
        <p:spPr>
          <a:xfrm>
            <a:off x="4974236" y="2514125"/>
            <a:ext cx="347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Вес коалиции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shapw.png" id="541" name="Google Shape;54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1606" y="2763361"/>
            <a:ext cx="1299981" cy="452513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6"/>
          <p:cNvSpPr txBox="1"/>
          <p:nvPr/>
        </p:nvSpPr>
        <p:spPr>
          <a:xfrm>
            <a:off x="4974236" y="3263933"/>
            <a:ext cx="347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учитывает, сколькими способами коалиция S может сложиться до прихода игрока 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6"/>
          <p:cNvSpPr/>
          <p:nvPr/>
        </p:nvSpPr>
        <p:spPr>
          <a:xfrm>
            <a:off x="4797000" y="3962050"/>
            <a:ext cx="3889800" cy="554700"/>
          </a:xfrm>
          <a:prstGeom prst="roundRect">
            <a:avLst>
              <a:gd fmla="val 5932" name="adj"/>
            </a:avLst>
          </a:prstGeom>
          <a:solidFill>
            <a:srgbClr val="F6F9FC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6"/>
          <p:cNvSpPr txBox="1"/>
          <p:nvPr/>
        </p:nvSpPr>
        <p:spPr>
          <a:xfrm>
            <a:off x="5062174" y="4126639"/>
            <a:ext cx="128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D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Сложность</a:t>
            </a:r>
            <a:endParaRPr b="0" i="0" sz="110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pow2.png" id="545" name="Google Shape;54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4436" y="4080682"/>
            <a:ext cx="272288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26"/>
          <p:cNvSpPr txBox="1"/>
          <p:nvPr/>
        </p:nvSpPr>
        <p:spPr>
          <a:xfrm>
            <a:off x="6259050" y="4141750"/>
            <a:ext cx="1748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lang="en-US" sz="950">
                <a:solidFill>
                  <a:schemeClr val="dk1"/>
                </a:solidFill>
              </a:rPr>
              <a:t>– перебор всех подмножеств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26"/>
          <p:cNvCxnSpPr/>
          <p:nvPr/>
        </p:nvCxnSpPr>
        <p:spPr>
          <a:xfrm>
            <a:off x="6711584" y="364116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p26"/>
          <p:cNvCxnSpPr/>
          <p:nvPr/>
        </p:nvCxnSpPr>
        <p:spPr>
          <a:xfrm>
            <a:off x="4546200" y="1679525"/>
            <a:ext cx="7755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26"/>
          <p:cNvCxnSpPr>
            <a:endCxn id="535" idx="0"/>
          </p:cNvCxnSpPr>
          <p:nvPr/>
        </p:nvCxnSpPr>
        <p:spPr>
          <a:xfrm flipH="1">
            <a:off x="2670048" y="1704276"/>
            <a:ext cx="3108000" cy="19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26"/>
          <p:cNvCxnSpPr/>
          <p:nvPr/>
        </p:nvCxnSpPr>
        <p:spPr>
          <a:xfrm flipH="1">
            <a:off x="1375625" y="1651000"/>
            <a:ext cx="1277400" cy="7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7"/>
          <p:cNvSpPr txBox="1"/>
          <p:nvPr/>
        </p:nvSpPr>
        <p:spPr>
          <a:xfrm>
            <a:off x="457200" y="431480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5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SHAP: </a:t>
            </a:r>
            <a:r>
              <a:rPr lang="en-US" sz="2500">
                <a:solidFill>
                  <a:srgbClr val="1F2429"/>
                </a:solidFill>
              </a:rPr>
              <a:t>читаем результат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 txBox="1"/>
          <p:nvPr/>
        </p:nvSpPr>
        <p:spPr>
          <a:xfrm>
            <a:off x="457200" y="1106414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Локально </a:t>
            </a:r>
            <a:r>
              <a:rPr b="1" lang="en-US" sz="1100">
                <a:solidFill>
                  <a:srgbClr val="00316B"/>
                </a:solidFill>
              </a:rPr>
              <a:t>–</a:t>
            </a:r>
            <a:r>
              <a:rPr b="1" i="0" lang="en-US" sz="11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один объект (</a:t>
            </a:r>
            <a:r>
              <a:rPr b="1" lang="en-US" sz="1100">
                <a:solidFill>
                  <a:srgbClr val="00316B"/>
                </a:solidFill>
              </a:rPr>
              <a:t>waterfall)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7"/>
          <p:cNvSpPr txBox="1"/>
          <p:nvPr/>
        </p:nvSpPr>
        <p:spPr>
          <a:xfrm>
            <a:off x="4709160" y="1106426"/>
            <a:ext cx="397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Глобально</a:t>
            </a:r>
            <a:r>
              <a:rPr b="1" lang="en-US" sz="1100">
                <a:solidFill>
                  <a:srgbClr val="00316B"/>
                </a:solidFill>
              </a:rPr>
              <a:t> –</a:t>
            </a:r>
            <a:r>
              <a:rPr b="1" i="0" lang="en-US" sz="110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вся выборка (bees</a:t>
            </a:r>
            <a:r>
              <a:rPr b="1" lang="en-US" sz="1100">
                <a:solidFill>
                  <a:srgbClr val="00316B"/>
                </a:solidFill>
              </a:rPr>
              <a:t>warm)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g_shap_local.png" id="559" name="Google Shape;5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461" y="1417309"/>
            <a:ext cx="3069956" cy="2103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img_shap_global.png" id="560" name="Google Shape;56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2304" y="1472186"/>
            <a:ext cx="3462205" cy="1993391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7"/>
          <p:cNvSpPr txBox="1"/>
          <p:nvPr/>
        </p:nvSpPr>
        <p:spPr>
          <a:xfrm>
            <a:off x="457200" y="3786175"/>
            <a:ext cx="33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lang="en-US" sz="1050">
                <a:solidFill>
                  <a:schemeClr val="dk1"/>
                </a:solidFill>
              </a:rPr>
              <a:t>Ось x содержит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средний прогноз модели по выборке. Каждая полоса сдвигает </a:t>
            </a:r>
            <a:r>
              <a:rPr lang="en-US" sz="1050">
                <a:solidFill>
                  <a:schemeClr val="dk1"/>
                </a:solidFill>
              </a:rPr>
              <a:t>прогноз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 </a:t>
            </a:r>
            <a:r>
              <a:rPr lang="en-US" sz="1050">
                <a:solidFill>
                  <a:schemeClr val="dk1"/>
                </a:solidFill>
              </a:rPr>
              <a:t>значение вклада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признака (ось y), сумма сдвигов равна итоговому предсказанию</a:t>
            </a:r>
            <a:r>
              <a:rPr lang="en-US" sz="1050">
                <a:solidFill>
                  <a:schemeClr val="dk1"/>
                </a:solidFill>
              </a:rPr>
              <a:t> для данного объекта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7"/>
          <p:cNvSpPr txBox="1"/>
          <p:nvPr/>
        </p:nvSpPr>
        <p:spPr>
          <a:xfrm>
            <a:off x="4709160" y="3786184"/>
            <a:ext cx="397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Точка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один объект. Признаки упорядочены по суммарному вкладу, цвет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значение самого признака (либо низкое, либо высокое): видно и силу влияния, и его направление (</a:t>
            </a:r>
            <a:r>
              <a:rPr lang="en-US" sz="1050">
                <a:solidFill>
                  <a:schemeClr val="dk1"/>
                </a:solidFill>
              </a:rPr>
              <a:t>в какую сторону движется прогноз модели при уменьшении/увеличении значения признака)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8"/>
          <p:cNvSpPr txBox="1"/>
          <p:nvPr/>
        </p:nvSpPr>
        <p:spPr>
          <a:xfrm>
            <a:off x="457200" y="40001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LIME: локальная суррогатная модель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8"/>
          <p:cNvSpPr txBox="1"/>
          <p:nvPr/>
        </p:nvSpPr>
        <p:spPr>
          <a:xfrm>
            <a:off x="457200" y="82064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Простая модель g повторяет поведение сложной модели f в маленькой окрестности одного объекта 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457200" y="1268700"/>
            <a:ext cx="8229600" cy="1049400"/>
          </a:xfrm>
          <a:prstGeom prst="roundRect">
            <a:avLst>
              <a:gd fmla="val 5600" name="adj"/>
            </a:avLst>
          </a:prstGeom>
          <a:solidFill>
            <a:srgbClr val="EEF3FA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ulas/lime.png" id="571" name="Google Shape;5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9453" y="1524730"/>
            <a:ext cx="4785096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8"/>
          <p:cNvSpPr/>
          <p:nvPr/>
        </p:nvSpPr>
        <p:spPr>
          <a:xfrm>
            <a:off x="457200" y="2686018"/>
            <a:ext cx="2615100" cy="1326000"/>
          </a:xfrm>
          <a:prstGeom prst="roundRect">
            <a:avLst>
              <a:gd fmla="val 4828" name="adj"/>
            </a:avLst>
          </a:prstGeom>
          <a:solidFill>
            <a:srgbClr val="F6F9FC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ulas/lime_L.png" id="573" name="Google Shape;57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" y="2905474"/>
            <a:ext cx="97753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8"/>
          <p:cNvSpPr txBox="1"/>
          <p:nvPr/>
        </p:nvSpPr>
        <p:spPr>
          <a:xfrm>
            <a:off x="694944" y="3307810"/>
            <a:ext cx="2157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взвешенная ошибка приближения: насколько g повторяет f рядом с 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3264408" y="2686018"/>
            <a:ext cx="2615100" cy="1326000"/>
          </a:xfrm>
          <a:prstGeom prst="roundRect">
            <a:avLst>
              <a:gd fmla="val 4828" name="adj"/>
            </a:avLst>
          </a:prstGeom>
          <a:solidFill>
            <a:srgbClr val="F6F9FC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ulas/lime_pi.png" id="576" name="Google Shape;57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2152" y="2905474"/>
            <a:ext cx="254726" cy="261257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8"/>
          <p:cNvSpPr txBox="1"/>
          <p:nvPr/>
        </p:nvSpPr>
        <p:spPr>
          <a:xfrm>
            <a:off x="3502152" y="3307810"/>
            <a:ext cx="2157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вес объекта: чем ближе он к x, тем сильнее влияет на обучение 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6071616" y="2686018"/>
            <a:ext cx="2615100" cy="1326000"/>
          </a:xfrm>
          <a:prstGeom prst="roundRect">
            <a:avLst>
              <a:gd fmla="val 4828" name="adj"/>
            </a:avLst>
          </a:prstGeom>
          <a:solidFill>
            <a:srgbClr val="F6F9FC"/>
          </a:solidFill>
          <a:ln cap="flat" cmpd="sng" w="9525">
            <a:solidFill>
              <a:srgbClr val="0031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ulas/lime_omega.png" id="579" name="Google Shape;57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0" y="2905474"/>
            <a:ext cx="44413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8"/>
          <p:cNvSpPr txBox="1"/>
          <p:nvPr/>
        </p:nvSpPr>
        <p:spPr>
          <a:xfrm>
            <a:off x="6309360" y="3307810"/>
            <a:ext cx="2157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штраф за сложность g</a:t>
            </a:r>
            <a:r>
              <a:rPr lang="en-US" sz="1050">
                <a:solidFill>
                  <a:schemeClr val="dk1"/>
                </a:solidFill>
              </a:rPr>
              <a:t>.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>
                <a:solidFill>
                  <a:schemeClr val="dk1"/>
                </a:solidFill>
              </a:rPr>
              <a:t>Как правило,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ограничение на число признаков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8"/>
          <p:cNvSpPr txBox="1"/>
          <p:nvPr/>
        </p:nvSpPr>
        <p:spPr>
          <a:xfrm>
            <a:off x="457200" y="4257503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Вокруг x порождают облако похожих объектов, спрашивают у </a:t>
            </a:r>
            <a:r>
              <a:rPr b="1" i="1" lang="en-US" sz="1150" u="none" cap="none" strike="noStrike">
                <a:solidFill>
                  <a:srgbClr val="1F2429"/>
                </a:solidFill>
              </a:rPr>
              <a:t>f </a:t>
            </a:r>
            <a:r>
              <a:rPr b="0" i="0" lang="en-US" sz="105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прогноз для каждого и обучают на этих парах взвешенную линейную модель. Её коэффициенты и есть объяснение </a:t>
            </a:r>
            <a:r>
              <a:rPr lang="en-US" sz="1050">
                <a:solidFill>
                  <a:srgbClr val="1F2429"/>
                </a:solidFill>
              </a:rPr>
              <a:t>–</a:t>
            </a:r>
            <a:r>
              <a:rPr b="0" i="0" lang="en-US" sz="105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 локальное, для одной точки.</a:t>
            </a:r>
            <a:endParaRPr b="0" i="0" sz="1050" u="none" cap="none" strike="noStrike">
              <a:solidFill>
                <a:srgbClr val="1F24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28"/>
          <p:cNvCxnSpPr>
            <a:endCxn id="572" idx="0"/>
          </p:cNvCxnSpPr>
          <p:nvPr/>
        </p:nvCxnSpPr>
        <p:spPr>
          <a:xfrm flipH="1">
            <a:off x="1764750" y="1890418"/>
            <a:ext cx="2861400" cy="7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3" name="Google Shape;583;p28"/>
          <p:cNvCxnSpPr>
            <a:endCxn id="575" idx="0"/>
          </p:cNvCxnSpPr>
          <p:nvPr/>
        </p:nvCxnSpPr>
        <p:spPr>
          <a:xfrm flipH="1">
            <a:off x="4571958" y="1913218"/>
            <a:ext cx="932100" cy="77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p28"/>
          <p:cNvCxnSpPr>
            <a:endCxn id="578" idx="0"/>
          </p:cNvCxnSpPr>
          <p:nvPr/>
        </p:nvCxnSpPr>
        <p:spPr>
          <a:xfrm>
            <a:off x="6405066" y="1890418"/>
            <a:ext cx="974100" cy="7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9"/>
          <p:cNvSpPr txBox="1"/>
          <p:nvPr/>
        </p:nvSpPr>
        <p:spPr>
          <a:xfrm>
            <a:off x="457200" y="316630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LIME на примере: почему клиенту отказали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 txBox="1"/>
          <p:nvPr/>
        </p:nvSpPr>
        <p:spPr>
          <a:xfrm>
            <a:off x="457200" y="737254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Объект x </a:t>
            </a:r>
            <a:r>
              <a:rPr lang="en-US" sz="1050">
                <a:solidFill>
                  <a:schemeClr val="dk1"/>
                </a:solidFill>
              </a:rPr>
              <a:t>–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возраст 47, доход 60 тыс., 3 действующих займа. Модель даёт вероятность одобрения займа 0,22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457200" y="1121650"/>
            <a:ext cx="8229600" cy="676200"/>
          </a:xfrm>
          <a:prstGeom prst="roundRect">
            <a:avLst>
              <a:gd fmla="val 7368" name="adj"/>
            </a:avLst>
          </a:prstGeom>
          <a:solidFill>
            <a:srgbClr val="EEF3FA"/>
          </a:solidFill>
          <a:ln cap="flat" cmpd="sng" w="9525">
            <a:solidFill>
              <a:srgbClr val="1F24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rmulas/limeloss.png" id="593" name="Google Shape;5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1002" y="1258456"/>
            <a:ext cx="3281974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9"/>
          <p:cNvSpPr txBox="1"/>
          <p:nvPr/>
        </p:nvSpPr>
        <p:spPr>
          <a:xfrm>
            <a:off x="457200" y="2072278"/>
            <a:ext cx="393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2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Облако вариантов вокруг клиента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 txBox="1"/>
          <p:nvPr/>
        </p:nvSpPr>
        <p:spPr>
          <a:xfrm>
            <a:off x="457200" y="2383174"/>
            <a:ext cx="896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вариант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 txBox="1"/>
          <p:nvPr/>
        </p:nvSpPr>
        <p:spPr>
          <a:xfrm>
            <a:off x="1353312" y="2383174"/>
            <a:ext cx="7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доход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ulas/lime_fz.png" id="597" name="Google Shape;59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4442" y="2401462"/>
            <a:ext cx="258604" cy="180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ulas/lime_pixz.png" id="598" name="Google Shape;59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7403" y="2401462"/>
            <a:ext cx="330041" cy="180023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9"/>
          <p:cNvSpPr/>
          <p:nvPr/>
        </p:nvSpPr>
        <p:spPr>
          <a:xfrm>
            <a:off x="457200" y="2639206"/>
            <a:ext cx="896100" cy="2469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9"/>
          <p:cNvSpPr txBox="1"/>
          <p:nvPr/>
        </p:nvSpPr>
        <p:spPr>
          <a:xfrm>
            <a:off x="457200" y="2639206"/>
            <a:ext cx="89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1" lang="en-US" sz="850">
                <a:solidFill>
                  <a:srgbClr val="00316B"/>
                </a:solidFill>
              </a:rPr>
              <a:t>–</a:t>
            </a: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сам клиент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1353312" y="2639206"/>
            <a:ext cx="749700" cy="2469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9"/>
          <p:cNvSpPr txBox="1"/>
          <p:nvPr/>
        </p:nvSpPr>
        <p:spPr>
          <a:xfrm>
            <a:off x="1353312" y="2639206"/>
            <a:ext cx="749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2103120" y="2639206"/>
            <a:ext cx="841200" cy="2469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9"/>
          <p:cNvSpPr txBox="1"/>
          <p:nvPr/>
        </p:nvSpPr>
        <p:spPr>
          <a:xfrm>
            <a:off x="2103120" y="2639206"/>
            <a:ext cx="84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0,22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9"/>
          <p:cNvSpPr/>
          <p:nvPr/>
        </p:nvSpPr>
        <p:spPr>
          <a:xfrm>
            <a:off x="2944368" y="2639206"/>
            <a:ext cx="896100" cy="246900"/>
          </a:xfrm>
          <a:prstGeom prst="rect">
            <a:avLst/>
          </a:prstGeom>
          <a:solidFill>
            <a:srgbClr val="EEF3FA"/>
          </a:solidFill>
          <a:ln cap="flat" cmpd="sng" w="9525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9"/>
          <p:cNvSpPr txBox="1"/>
          <p:nvPr/>
        </p:nvSpPr>
        <p:spPr>
          <a:xfrm>
            <a:off x="2944368" y="2639206"/>
            <a:ext cx="89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1,00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9"/>
          <p:cNvSpPr/>
          <p:nvPr/>
        </p:nvSpPr>
        <p:spPr>
          <a:xfrm>
            <a:off x="457200" y="2886094"/>
            <a:ext cx="8961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9"/>
          <p:cNvSpPr txBox="1"/>
          <p:nvPr/>
        </p:nvSpPr>
        <p:spPr>
          <a:xfrm>
            <a:off x="457200" y="2886094"/>
            <a:ext cx="89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z₁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1353312" y="2886094"/>
            <a:ext cx="7497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9"/>
          <p:cNvSpPr txBox="1"/>
          <p:nvPr/>
        </p:nvSpPr>
        <p:spPr>
          <a:xfrm>
            <a:off x="1353312" y="2886094"/>
            <a:ext cx="749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9"/>
          <p:cNvSpPr/>
          <p:nvPr/>
        </p:nvSpPr>
        <p:spPr>
          <a:xfrm>
            <a:off x="2103120" y="2886094"/>
            <a:ext cx="8412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9"/>
          <p:cNvSpPr txBox="1"/>
          <p:nvPr/>
        </p:nvSpPr>
        <p:spPr>
          <a:xfrm>
            <a:off x="2103120" y="2886094"/>
            <a:ext cx="84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9"/>
          <p:cNvSpPr/>
          <p:nvPr/>
        </p:nvSpPr>
        <p:spPr>
          <a:xfrm>
            <a:off x="2944368" y="2886094"/>
            <a:ext cx="8961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9"/>
          <p:cNvSpPr txBox="1"/>
          <p:nvPr/>
        </p:nvSpPr>
        <p:spPr>
          <a:xfrm>
            <a:off x="2944368" y="2886094"/>
            <a:ext cx="89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0,94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9"/>
          <p:cNvSpPr/>
          <p:nvPr/>
        </p:nvSpPr>
        <p:spPr>
          <a:xfrm>
            <a:off x="457200" y="3132982"/>
            <a:ext cx="8961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9"/>
          <p:cNvSpPr txBox="1"/>
          <p:nvPr/>
        </p:nvSpPr>
        <p:spPr>
          <a:xfrm>
            <a:off x="457200" y="3132982"/>
            <a:ext cx="89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z₂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1353312" y="3132982"/>
            <a:ext cx="7497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9"/>
          <p:cNvSpPr txBox="1"/>
          <p:nvPr/>
        </p:nvSpPr>
        <p:spPr>
          <a:xfrm>
            <a:off x="1353312" y="3132982"/>
            <a:ext cx="749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2103120" y="3132982"/>
            <a:ext cx="8412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9"/>
          <p:cNvSpPr txBox="1"/>
          <p:nvPr/>
        </p:nvSpPr>
        <p:spPr>
          <a:xfrm>
            <a:off x="2103120" y="3132982"/>
            <a:ext cx="84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0,37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2944368" y="3132982"/>
            <a:ext cx="8961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9"/>
          <p:cNvSpPr txBox="1"/>
          <p:nvPr/>
        </p:nvSpPr>
        <p:spPr>
          <a:xfrm>
            <a:off x="2944368" y="3132982"/>
            <a:ext cx="89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0,41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457200" y="3379870"/>
            <a:ext cx="8961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9"/>
          <p:cNvSpPr txBox="1"/>
          <p:nvPr/>
        </p:nvSpPr>
        <p:spPr>
          <a:xfrm>
            <a:off x="457200" y="3379870"/>
            <a:ext cx="89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z₃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1353312" y="3379870"/>
            <a:ext cx="7497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9"/>
          <p:cNvSpPr txBox="1"/>
          <p:nvPr/>
        </p:nvSpPr>
        <p:spPr>
          <a:xfrm>
            <a:off x="1353312" y="3379870"/>
            <a:ext cx="749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2103120" y="3379870"/>
            <a:ext cx="8412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2103120" y="3379870"/>
            <a:ext cx="84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0,92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2944368" y="3379870"/>
            <a:ext cx="896100" cy="246900"/>
          </a:xfrm>
          <a:prstGeom prst="rect">
            <a:avLst/>
          </a:prstGeom>
          <a:solidFill>
            <a:srgbClr val="F6F9FC"/>
          </a:solidFill>
          <a:ln cap="flat" cmpd="sng" w="9525">
            <a:solidFill>
              <a:srgbClr val="D7E2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2944368" y="3379870"/>
            <a:ext cx="89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C464F"/>
                </a:solidFill>
                <a:latin typeface="Arial"/>
                <a:ea typeface="Arial"/>
                <a:cs typeface="Arial"/>
                <a:sym typeface="Arial"/>
              </a:rPr>
              <a:t>0,01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 txBox="1"/>
          <p:nvPr/>
        </p:nvSpPr>
        <p:spPr>
          <a:xfrm>
            <a:off x="457200" y="3718200"/>
            <a:ext cx="3344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B848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Всего 5 000 вариантов: у каждого </a:t>
            </a:r>
            <a:r>
              <a:rPr lang="en-US" sz="850">
                <a:solidFill>
                  <a:schemeClr val="dk1"/>
                </a:solidFill>
              </a:rPr>
              <a:t>подменен</a:t>
            </a:r>
            <a:r>
              <a:rPr b="0" i="0" lang="en-US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один признак. f(z) </a:t>
            </a:r>
            <a:r>
              <a:rPr lang="en-US" sz="850">
                <a:solidFill>
                  <a:schemeClr val="dk1"/>
                </a:solidFill>
              </a:rPr>
              <a:t>–</a:t>
            </a:r>
            <a:r>
              <a:rPr b="0" i="0" lang="en-US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вероятность одобрения от исходной модели, π(z) </a:t>
            </a:r>
            <a:r>
              <a:rPr lang="en-US" sz="850">
                <a:solidFill>
                  <a:schemeClr val="dk1"/>
                </a:solidFill>
              </a:rPr>
              <a:t>–</a:t>
            </a:r>
            <a:r>
              <a:rPr b="0" i="0" lang="en-US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вес варианта при обучении g: доход 62 тыс. почти как у клиента, доход 300 тыс. </a:t>
            </a:r>
            <a:r>
              <a:rPr lang="en-US" sz="850">
                <a:solidFill>
                  <a:schemeClr val="dk1"/>
                </a:solidFill>
              </a:rPr>
              <a:t>–</a:t>
            </a:r>
            <a:r>
              <a:rPr b="0" i="0" lang="en-US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уже другой человек.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 txBox="1"/>
          <p:nvPr/>
        </p:nvSpPr>
        <p:spPr>
          <a:xfrm>
            <a:off x="4709160" y="2072278"/>
            <a:ext cx="397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16B"/>
              </a:buClr>
              <a:buSzPts val="1050"/>
              <a:buFont typeface="Arial"/>
              <a:buNone/>
            </a:pPr>
            <a:r>
              <a:rPr b="1" i="0" lang="en-US" sz="12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Коэффициенты локальной модели 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g_lime_coefs.png" id="633" name="Google Shape;63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9065" y="2346586"/>
            <a:ext cx="3657600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9"/>
          <p:cNvSpPr txBox="1"/>
          <p:nvPr/>
        </p:nvSpPr>
        <p:spPr>
          <a:xfrm>
            <a:off x="4709160" y="4083958"/>
            <a:ext cx="397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950"/>
              <a:buFont typeface="Arial"/>
              <a:buNone/>
            </a:pPr>
            <a:r>
              <a:rPr lang="en-US" sz="950">
                <a:solidFill>
                  <a:schemeClr val="dk1"/>
                </a:solidFill>
              </a:rPr>
              <a:t>Н</a:t>
            </a: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изкий доход и три займа тянут вероятность одобрения вниз, возраст немного вверх.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 txBox="1"/>
          <p:nvPr/>
        </p:nvSpPr>
        <p:spPr>
          <a:xfrm>
            <a:off x="457200" y="465084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464F"/>
              </a:buClr>
              <a:buSzPts val="1050"/>
              <a:buFont typeface="Arial"/>
              <a:buNone/>
            </a:pPr>
            <a:r>
              <a:rPr b="0" i="0" lang="en-US" sz="11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Коэффициенты локальные: они описывают поведение модели рядом с </a:t>
            </a:r>
            <a:r>
              <a:rPr b="1" i="0" lang="en-US" sz="1150" u="none" cap="none" strike="noStrike">
                <a:solidFill>
                  <a:srgbClr val="00316B"/>
                </a:solidFill>
              </a:rPr>
              <a:t>этим</a:t>
            </a:r>
            <a:r>
              <a:rPr b="0" i="0" lang="en-US" sz="1150" u="none" cap="none" strike="noStrike">
                <a:solidFill>
                  <a:srgbClr val="00316B"/>
                </a:solidFill>
                <a:latin typeface="Arial"/>
                <a:ea typeface="Arial"/>
                <a:cs typeface="Arial"/>
                <a:sym typeface="Arial"/>
              </a:rPr>
              <a:t> клиентом. У клиента с доходом 300 тысяч они были бы другими.</a:t>
            </a:r>
            <a:endParaRPr b="0" i="0" sz="1150" u="none" cap="none" strike="noStrike">
              <a:solidFill>
                <a:srgbClr val="0031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6" name="Google Shape;636;p29"/>
          <p:cNvCxnSpPr/>
          <p:nvPr/>
        </p:nvCxnSpPr>
        <p:spPr>
          <a:xfrm flipH="1">
            <a:off x="4160375" y="2356125"/>
            <a:ext cx="656400" cy="22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0"/>
          <p:cNvSpPr txBox="1"/>
          <p:nvPr/>
        </p:nvSpPr>
        <p:spPr>
          <a:xfrm>
            <a:off x="457200" y="4443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29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F2429"/>
                </a:solidFill>
                <a:latin typeface="Arial"/>
                <a:ea typeface="Arial"/>
                <a:cs typeface="Arial"/>
                <a:sym typeface="Arial"/>
              </a:rPr>
              <a:t>Источники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457200" y="107562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Molnar, C. — Interpretable Machine Learning, 2nd ed., 2022.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Goldstein, A. et al. — Peeking Inside the Black Box: Visualizing Statistical Learning with Plots of Individual Conditional Expectation, JCGS, 2015.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Apley, D., Zhu, J. — Visualizing the Effects of Predictor Variables in Black Box Supervised Learning Models, JRSS-B, 2020.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Fisher, A., Rudin, C., Dominici, F. — All Models Are Wrong, but Many Are Useful, JMLR, 2019.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Shapley, L. S. — A Value for n-Person Games, Contributions to the Theory of Games, 1953.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Lundberg, S., Lee, S.-I. — A Unified Approach to Interpreting Model Predictions, NeurIPS, 2017.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Lundberg, S. et al. — From Local Explanations to Global Understanding with Explainable AI for Trees, Nature Machine Intelligence, 2020.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Ribeiro, M., Singh, S., Guestrin, C. — «Why Should I Trust You?»: Explaining the Predictions of Any Classifier, KDD, 2016.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50"/>
              <a:buAutoNum type="arabicPeriod"/>
            </a:pPr>
            <a:r>
              <a:rPr i="0" lang="en-US" sz="950" u="none" cap="none" strike="noStrike">
                <a:solidFill>
                  <a:schemeClr val="dk1"/>
                </a:solidFill>
              </a:rPr>
              <a:t>Rudin, C. — Stop Explaining Black Box Machine Learning Models for High Stakes Decisions, Nature Machine Intelligence, 2019.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